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ad014be3d64281" /><Relationship Type="http://schemas.openxmlformats.org/officeDocument/2006/relationships/extended-properties" Target="/docProps/app.xml" Id="R388d435745754110" /><Relationship Type="http://schemas.openxmlformats.org/officeDocument/2006/relationships/officeDocument" Target="/ppt/presentation.xml" Id="R1aba4746d97747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56d9a2393b4868"/>
  </p:sldMasterIdLst>
  <p:notesMasterIdLst>
    <p:notesMasterId xmlns:r="http://schemas.openxmlformats.org/officeDocument/2006/relationships" r:id="R45ced153fcf04093"/>
  </p:notesMasterIdLst>
  <p:sldIdLst>
    <p:sldId xmlns:r="http://schemas.openxmlformats.org/officeDocument/2006/relationships" id="256" r:id="R9deb0f50cfe447f7"/>
    <p:sldId xmlns:r="http://schemas.openxmlformats.org/officeDocument/2006/relationships" id="257" r:id="R20975e048af94e0d"/>
    <p:sldId xmlns:r="http://schemas.openxmlformats.org/officeDocument/2006/relationships" id="258" r:id="Rda69a2571bcf4bd1"/>
    <p:sldId xmlns:r="http://schemas.openxmlformats.org/officeDocument/2006/relationships" id="259" r:id="R64b8f7d0e9304df7"/>
    <p:sldId xmlns:r="http://schemas.openxmlformats.org/officeDocument/2006/relationships" id="260" r:id="Ref269ab8622a4c0b"/>
    <p:sldId xmlns:r="http://schemas.openxmlformats.org/officeDocument/2006/relationships" id="261" r:id="R2a3467657fda48a5"/>
    <p:sldId xmlns:r="http://schemas.openxmlformats.org/officeDocument/2006/relationships" id="262" r:id="R1af15c5051a04fe6"/>
    <p:sldId xmlns:r="http://schemas.openxmlformats.org/officeDocument/2006/relationships" id="263" r:id="R4c61a1b8641f4b1e"/>
    <p:sldId xmlns:r="http://schemas.openxmlformats.org/officeDocument/2006/relationships" id="264" r:id="Rab1bf45002134fc3"/>
    <p:sldId xmlns:r="http://schemas.openxmlformats.org/officeDocument/2006/relationships" id="265" r:id="Rdbe5eafb1d9242e9"/>
    <p:sldId xmlns:r="http://schemas.openxmlformats.org/officeDocument/2006/relationships" id="266" r:id="R3e35549fc16547ef"/>
    <p:sldId xmlns:r="http://schemas.openxmlformats.org/officeDocument/2006/relationships" id="267" r:id="R876f12a8320646f0"/>
    <p:sldId xmlns:r="http://schemas.openxmlformats.org/officeDocument/2006/relationships" id="268" r:id="Rdb65d4e127294f22"/>
    <p:sldId xmlns:r="http://schemas.openxmlformats.org/officeDocument/2006/relationships" id="269" r:id="R2fc043664ec74edf"/>
    <p:sldId xmlns:r="http://schemas.openxmlformats.org/officeDocument/2006/relationships" id="270" r:id="Rbc183521c9da405f"/>
    <p:sldId xmlns:r="http://schemas.openxmlformats.org/officeDocument/2006/relationships" id="271" r:id="Rbfb21fc1883e4b09"/>
    <p:sldId xmlns:r="http://schemas.openxmlformats.org/officeDocument/2006/relationships" id="272" r:id="Ra10c3800ca7045b4"/>
    <p:sldId xmlns:r="http://schemas.openxmlformats.org/officeDocument/2006/relationships" id="273" r:id="Rd1342decb5a6467b"/>
    <p:sldId xmlns:r="http://schemas.openxmlformats.org/officeDocument/2006/relationships" id="274" r:id="R6d4495cb8f7e4edc"/>
    <p:sldId xmlns:r="http://schemas.openxmlformats.org/officeDocument/2006/relationships" id="275" r:id="Rb31596ed367a45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6c60c001a6494e" /><Relationship Type="http://schemas.openxmlformats.org/officeDocument/2006/relationships/slideMaster" Target="/ppt/slideMasters/slideMaster1.xml" Id="R1256d9a2393b4868" /><Relationship Type="http://schemas.openxmlformats.org/officeDocument/2006/relationships/notesMaster" Target="/ppt/notesMasters/notesMaster1.xml" Id="R45ced153fcf04093" /><Relationship Type="http://schemas.openxmlformats.org/officeDocument/2006/relationships/presProps" Target="/ppt/presProps.xml" Id="R18cd8a98a54a4d4d" /><Relationship Type="http://schemas.openxmlformats.org/officeDocument/2006/relationships/tableStyles" Target="/ppt/tableStyles.xml" Id="R86b579864d14445b" /><Relationship Type="http://schemas.openxmlformats.org/officeDocument/2006/relationships/slide" Target="/ppt/slides/slide1.xml" Id="R9deb0f50cfe447f7" /><Relationship Type="http://schemas.openxmlformats.org/officeDocument/2006/relationships/slide" Target="/ppt/slides/slide2.xml" Id="R20975e048af94e0d" /><Relationship Type="http://schemas.openxmlformats.org/officeDocument/2006/relationships/slide" Target="/ppt/slides/slide3.xml" Id="Rda69a2571bcf4bd1" /><Relationship Type="http://schemas.openxmlformats.org/officeDocument/2006/relationships/slide" Target="/ppt/slides/slide4.xml" Id="R64b8f7d0e9304df7" /><Relationship Type="http://schemas.openxmlformats.org/officeDocument/2006/relationships/slide" Target="/ppt/slides/slide5.xml" Id="Ref269ab8622a4c0b" /><Relationship Type="http://schemas.openxmlformats.org/officeDocument/2006/relationships/slide" Target="/ppt/slides/slide6.xml" Id="R2a3467657fda48a5" /><Relationship Type="http://schemas.openxmlformats.org/officeDocument/2006/relationships/slide" Target="/ppt/slides/slide7.xml" Id="R1af15c5051a04fe6" /><Relationship Type="http://schemas.openxmlformats.org/officeDocument/2006/relationships/slide" Target="/ppt/slides/slide8.xml" Id="R4c61a1b8641f4b1e" /><Relationship Type="http://schemas.openxmlformats.org/officeDocument/2006/relationships/slide" Target="/ppt/slides/slide9.xml" Id="Rab1bf45002134fc3" /><Relationship Type="http://schemas.openxmlformats.org/officeDocument/2006/relationships/slide" Target="/ppt/slides/slide10.xml" Id="Rdbe5eafb1d9242e9" /><Relationship Type="http://schemas.openxmlformats.org/officeDocument/2006/relationships/slide" Target="/ppt/slides/slide11.xml" Id="R3e35549fc16547ef" /><Relationship Type="http://schemas.openxmlformats.org/officeDocument/2006/relationships/slide" Target="/ppt/slides/slide12.xml" Id="R876f12a8320646f0" /><Relationship Type="http://schemas.openxmlformats.org/officeDocument/2006/relationships/slide" Target="/ppt/slides/slide13.xml" Id="Rdb65d4e127294f22" /><Relationship Type="http://schemas.openxmlformats.org/officeDocument/2006/relationships/slide" Target="/ppt/slides/slide14.xml" Id="R2fc043664ec74edf" /><Relationship Type="http://schemas.openxmlformats.org/officeDocument/2006/relationships/slide" Target="/ppt/slides/slide15.xml" Id="Rbc183521c9da405f" /><Relationship Type="http://schemas.openxmlformats.org/officeDocument/2006/relationships/slide" Target="/ppt/slides/slide16.xml" Id="Rbfb21fc1883e4b09" /><Relationship Type="http://schemas.openxmlformats.org/officeDocument/2006/relationships/slide" Target="/ppt/slides/slide17.xml" Id="Ra10c3800ca7045b4" /><Relationship Type="http://schemas.openxmlformats.org/officeDocument/2006/relationships/slide" Target="/ppt/slides/slide18.xml" Id="Rd1342decb5a6467b" /><Relationship Type="http://schemas.openxmlformats.org/officeDocument/2006/relationships/slide" Target="/ppt/slides/slide19.xml" Id="R6d4495cb8f7e4edc" /><Relationship Type="http://schemas.openxmlformats.org/officeDocument/2006/relationships/slide" Target="/ppt/slides/slide20.xml" Id="Rb31596ed367a45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b3d13881554d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6e170426c94e3f" /><Relationship Type="http://schemas.openxmlformats.org/officeDocument/2006/relationships/notesMaster" Target="/ppt/notesMasters/notesMaster1.xml" Id="R10dd0789803d42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fa5d4ccd74414a" /><Relationship Type="http://schemas.openxmlformats.org/officeDocument/2006/relationships/notesMaster" Target="/ppt/notesMasters/notesMaster1.xml" Id="R317d1f6e81324f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44e01c739f43e6" /><Relationship Type="http://schemas.openxmlformats.org/officeDocument/2006/relationships/notesMaster" Target="/ppt/notesMasters/notesMaster1.xml" Id="R8a86cf1f59ea4c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6f554f53114ef9" /><Relationship Type="http://schemas.openxmlformats.org/officeDocument/2006/relationships/notesMaster" Target="/ppt/notesMasters/notesMaster1.xml" Id="R8ae6faac23bb44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ac1f0ed54c45a9" /><Relationship Type="http://schemas.openxmlformats.org/officeDocument/2006/relationships/notesMaster" Target="/ppt/notesMasters/notesMaster1.xml" Id="Rf7c7be09895846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7cabf02b0a4ae4" /><Relationship Type="http://schemas.openxmlformats.org/officeDocument/2006/relationships/notesMaster" Target="/ppt/notesMasters/notesMaster1.xml" Id="R4279d304cc1c4b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6e94c8066f44b50" /><Relationship Type="http://schemas.openxmlformats.org/officeDocument/2006/relationships/notesMaster" Target="/ppt/notesMasters/notesMaster1.xml" Id="R983f7b47d3704c0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c81c0e3ae3149ed" /><Relationship Type="http://schemas.openxmlformats.org/officeDocument/2006/relationships/notesMaster" Target="/ppt/notesMasters/notesMaster1.xml" Id="R10d37d94cd574bb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1a6981b6554a74" /><Relationship Type="http://schemas.openxmlformats.org/officeDocument/2006/relationships/notesMaster" Target="/ppt/notesMasters/notesMaster1.xml" Id="Rc8a1dd946031465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d1e6cfdacfb4af9" /><Relationship Type="http://schemas.openxmlformats.org/officeDocument/2006/relationships/notesMaster" Target="/ppt/notesMasters/notesMaster1.xml" Id="R18147f8094ef469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27ac8cab10946a1" /><Relationship Type="http://schemas.openxmlformats.org/officeDocument/2006/relationships/notesMaster" Target="/ppt/notesMasters/notesMaster1.xml" Id="Re283f73233c4468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805e2b151944750" /><Relationship Type="http://schemas.openxmlformats.org/officeDocument/2006/relationships/notesMaster" Target="/ppt/notesMasters/notesMaster1.xml" Id="R8a517afaa0a74fa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b4c171ce8834b81" /><Relationship Type="http://schemas.openxmlformats.org/officeDocument/2006/relationships/notesMaster" Target="/ppt/notesMasters/notesMaster1.xml" Id="Re8f14c882988457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978b8dbb0cf4ca2" /><Relationship Type="http://schemas.openxmlformats.org/officeDocument/2006/relationships/notesMaster" Target="/ppt/notesMasters/notesMaster1.xml" Id="R8c6b94305e8b41f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82177535c2541f8" /><Relationship Type="http://schemas.openxmlformats.org/officeDocument/2006/relationships/notesMaster" Target="/ppt/notesMasters/notesMaster1.xml" Id="Rd1611cfef71c4d8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cca9c23e43c416d" /><Relationship Type="http://schemas.openxmlformats.org/officeDocument/2006/relationships/notesMaster" Target="/ppt/notesMasters/notesMaster1.xml" Id="R8aa4d415e9cb4f1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012ce06c8ad4cb9" /><Relationship Type="http://schemas.openxmlformats.org/officeDocument/2006/relationships/notesMaster" Target="/ppt/notesMasters/notesMaster1.xml" Id="R99e844be6954448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a5c30dadc554588" /><Relationship Type="http://schemas.openxmlformats.org/officeDocument/2006/relationships/notesMaster" Target="/ppt/notesMasters/notesMaster1.xml" Id="Re56eb40308db496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d01683e1cfe4d33" /><Relationship Type="http://schemas.openxmlformats.org/officeDocument/2006/relationships/notesMaster" Target="/ppt/notesMasters/notesMaster1.xml" Id="Ra0eccc56a44b467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b6114272bd64225" /><Relationship Type="http://schemas.openxmlformats.org/officeDocument/2006/relationships/notesMaster" Target="/ppt/notesMasters/notesMaster1.xml" Id="Rf0506bc2aefe4f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d447bc16284b3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703b2f30be465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73ed5940dc47b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584e148ef44af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4ad26b134b420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461618953847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CB4253F-0C40-4FCF-9AE0-CC49AF8D8C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DC0E149-EE15-450A-9A78-2077FF9AC56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44744EF-3C55-42DE-AFAC-C32D4AB88B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3FFF3DE-CE4D-445C-880F-5505E38F60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D67155D-346C-4297-8D7C-725DDB0489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B745CCA-CA30-49D3-9555-67529E8D71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6F847AB-4947-4F93-82C9-342F36E941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AD93044-7831-4BC5-A99F-90CFD2A4EF8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904E86B-83E4-40D4-B3E5-2CBF7D8EC3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251E90B-AFDC-4F82-A8D4-7003A71BF2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779ad25c684fb1" /><Relationship Type="http://schemas.openxmlformats.org/officeDocument/2006/relationships/slideLayout" Target="/ppt/slideLayouts/slideLayout1.xml" Id="Rf35d9083818147e2" /><Relationship Type="http://schemas.openxmlformats.org/officeDocument/2006/relationships/slideLayout" Target="/ppt/slideLayouts/slideLayout2.xml" Id="R3c185cc3a6b64bb2" /><Relationship Type="http://schemas.openxmlformats.org/officeDocument/2006/relationships/slideLayout" Target="/ppt/slideLayouts/slideLayout3.xml" Id="Rc0e0b912d65549de" /><Relationship Type="http://schemas.openxmlformats.org/officeDocument/2006/relationships/slideLayout" Target="/ppt/slideLayouts/slideLayout4.xml" Id="Rbffb51630d95452b" /><Relationship Type="http://schemas.openxmlformats.org/officeDocument/2006/relationships/slideLayout" Target="/ppt/slideLayouts/slideLayout5.xml" Id="Rc878402b8530489e" /><Relationship Type="http://schemas.openxmlformats.org/officeDocument/2006/relationships/slideLayout" Target="/ppt/slideLayouts/slideLayout6.xml" Id="R8e2c206f5ac742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5d9083818147e2"/>
    <p:sldLayoutId xmlns:r="http://schemas.openxmlformats.org/officeDocument/2006/relationships" id="2147483650" r:id="R3c185cc3a6b64bb2"/>
    <p:sldLayoutId xmlns:r="http://schemas.openxmlformats.org/officeDocument/2006/relationships" id="2147483651" r:id="Rc0e0b912d65549de"/>
    <p:sldLayoutId xmlns:r="http://schemas.openxmlformats.org/officeDocument/2006/relationships" id="2147483652" r:id="Rbffb51630d95452b"/>
    <p:sldLayoutId xmlns:r="http://schemas.openxmlformats.org/officeDocument/2006/relationships" id="2147483653" r:id="Rc878402b8530489e"/>
    <p:sldLayoutId xmlns:r="http://schemas.openxmlformats.org/officeDocument/2006/relationships" id="2147483654" r:id="R8e2c206f5ac742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5d1acd2c8c4d71" /><Relationship Type="http://schemas.openxmlformats.org/officeDocument/2006/relationships/notesSlide" Target="/ppt/notesSlides/notesSlide1.xml" Id="Ra3cf3e59c6f746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cb61b935a04d98" /><Relationship Type="http://schemas.openxmlformats.org/officeDocument/2006/relationships/notesSlide" Target="/ppt/notesSlides/notesSlide2.xml" Id="R0dd5c9e36c3844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74a228b3b647e0" /><Relationship Type="http://schemas.openxmlformats.org/officeDocument/2006/relationships/notesSlide" Target="/ppt/notesSlides/notesSlide3.xml" Id="Re8e0fa1aee8d44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d3111309594935" /><Relationship Type="http://schemas.openxmlformats.org/officeDocument/2006/relationships/notesSlide" Target="/ppt/notesSlides/notesSlide4.xml" Id="R09f8000dabaf4b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7a774566b84479" /><Relationship Type="http://schemas.openxmlformats.org/officeDocument/2006/relationships/notesSlide" Target="/ppt/notesSlides/notesSlide5.xml" Id="R0220411622434b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50317cbd3e415e" /><Relationship Type="http://schemas.openxmlformats.org/officeDocument/2006/relationships/notesSlide" Target="/ppt/notesSlides/notesSlide6.xml" Id="Re10e7e6b7b1149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834c3db7c040aa" /><Relationship Type="http://schemas.openxmlformats.org/officeDocument/2006/relationships/notesSlide" Target="/ppt/notesSlides/notesSlide7.xml" Id="Rb22f5459c39d4a7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4897cf38174a82" /><Relationship Type="http://schemas.openxmlformats.org/officeDocument/2006/relationships/notesSlide" Target="/ppt/notesSlides/notesSlide8.xml" Id="R08a615d23ed54e9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2869a512a94d45" /><Relationship Type="http://schemas.openxmlformats.org/officeDocument/2006/relationships/notesSlide" Target="/ppt/notesSlides/notesSlide9.xml" Id="R7b4b3160548b48b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26bbc06553442b" /><Relationship Type="http://schemas.openxmlformats.org/officeDocument/2006/relationships/notesSlide" Target="/ppt/notesSlides/notesSlide10.xml" Id="Rd282c35072124eb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47ef5a6a08404c" /><Relationship Type="http://schemas.openxmlformats.org/officeDocument/2006/relationships/image" Target="/ppt/media/image.bin" Id="R0bb6b64848214571" /><Relationship Type="http://schemas.openxmlformats.org/officeDocument/2006/relationships/image" Target="/ppt/media/image2.bin" Id="R1a419e18f3064e24" /><Relationship Type="http://schemas.openxmlformats.org/officeDocument/2006/relationships/image" Target="/ppt/media/image3.bin" Id="Rcbf975bc33154243" /><Relationship Type="http://schemas.openxmlformats.org/officeDocument/2006/relationships/notesSlide" Target="/ppt/notesSlides/notesSlide11.xml" Id="R63fa44738f874c1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b52fd54bf24b1c" /><Relationship Type="http://schemas.openxmlformats.org/officeDocument/2006/relationships/notesSlide" Target="/ppt/notesSlides/notesSlide12.xml" Id="R5baa29646032425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9ebb9e87ff483c" /><Relationship Type="http://schemas.openxmlformats.org/officeDocument/2006/relationships/image" Target="/ppt/media/image4.bin" Id="R4e29bad097e84922" /><Relationship Type="http://schemas.openxmlformats.org/officeDocument/2006/relationships/image" Target="/ppt/media/image5.bin" Id="R323b279eebb74e9b" /><Relationship Type="http://schemas.openxmlformats.org/officeDocument/2006/relationships/image" Target="/ppt/media/image6.bin" Id="R52f8381309b64619" /><Relationship Type="http://schemas.openxmlformats.org/officeDocument/2006/relationships/image" Target="/ppt/media/image7.bin" Id="Rca34e2398fb34332" /><Relationship Type="http://schemas.openxmlformats.org/officeDocument/2006/relationships/notesSlide" Target="/ppt/notesSlides/notesSlide13.xml" Id="R416ce5ef7b2a427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c4f62021cc4a5b" /><Relationship Type="http://schemas.openxmlformats.org/officeDocument/2006/relationships/notesSlide" Target="/ppt/notesSlides/notesSlide14.xml" Id="R4dba812b995f4a0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1a31c4b03740ec" /><Relationship Type="http://schemas.openxmlformats.org/officeDocument/2006/relationships/notesSlide" Target="/ppt/notesSlides/notesSlide15.xml" Id="R8b337e29a3dc442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b50616cc384c81" /><Relationship Type="http://schemas.openxmlformats.org/officeDocument/2006/relationships/notesSlide" Target="/ppt/notesSlides/notesSlide16.xml" Id="R1a9dad40812f4aa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354411b1b64b96" /><Relationship Type="http://schemas.openxmlformats.org/officeDocument/2006/relationships/notesSlide" Target="/ppt/notesSlides/notesSlide17.xml" Id="R7a37d391868942c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7c68f974d34042" /><Relationship Type="http://schemas.openxmlformats.org/officeDocument/2006/relationships/notesSlide" Target="/ppt/notesSlides/notesSlide18.xml" Id="R3ff291c7e7ba426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1e40994d794a74" /><Relationship Type="http://schemas.openxmlformats.org/officeDocument/2006/relationships/notesSlide" Target="/ppt/notesSlides/notesSlide19.xml" Id="R5835b6a7cc5e4d7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fc1ddb15194f5c" /><Relationship Type="http://schemas.openxmlformats.org/officeDocument/2006/relationships/notesSlide" Target="/ppt/notesSlides/notesSlide20.xml" Id="R17bb7c32c2df40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FBD007-1283-449F-9314-9B329C9D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6300"/>
            <a:ext cx="1143000" cy="1143000"/>
          </a:xfrm>
          <a:prstGeom xmlns:a="http://schemas.openxmlformats.org/drawingml/2006/main" prst="roundRect">
            <a:avLst>
              <a:gd name="adj" fmla="val 18333"/>
            </a:avLst>
          </a:prstGeom>
          <a:solidFill xmlns:a="http://schemas.openxmlformats.org/drawingml/2006/main">
            <a:srgbClr val="2229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2618D8-33A4-49C0-BBDE-49E6DE26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" y="1082040"/>
            <a:ext cx="731520" cy="731520"/>
          </a:xfrm>
          <a:prstGeom xmlns:a="http://schemas.openxmlformats.org/drawingml/2006/main" prst="roundRect">
            <a:avLst>
              <a:gd name="adj" fmla="val 13021"/>
            </a:avLst>
          </a:prstGeom>
          <a:solidFill xmlns:a="http://schemas.openxmlformats.org/drawingml/2006/main">
            <a:srgbClr val="F5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FAA2D1-E573-4CDA-9F7D-13AC64DD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" y="1573530"/>
            <a:ext cx="73152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A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CF33E1-24D8-4C82-9C1B-CDDFA56B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571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350" b="1">
                <a:solidFill>
                  <a:srgbClr val="222923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4350" b="1">
                <a:solidFill>
                  <a:srgbClr val="222923"/>
                </a:solidFill>
                <a:latin typeface="Georgia"/>
                <a:ea typeface="Georgia"/>
                <a:cs typeface="Georgia"/>
              </a:defRPr>
            </a:pPr>
            <a:r>
              <a:rPr sz="4350" b="1">
                <a:solidFill>
                  <a:srgbClr val="222923"/>
                </a:solidFill>
                <a:latin typeface="Georgia"/>
                <a:ea typeface="Georgia"/>
                <a:cs typeface="Georgia"/>
              </a:rPr>
              <a:t>LihatDulu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5CEFD5-D58F-4590-B1E8-FB5F6759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670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0">
                <a:solidFill>
                  <a:srgbClr val="3D5A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D5A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D5A40"/>
                </a:solidFill>
                <a:latin typeface="Arial"/>
                <a:ea typeface="Arial"/>
                <a:cs typeface="Arial"/>
              </a:rPr>
              <a:t>Identitas untuk memilih furnitur dengan mata terbuka.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E0230D-CE1C-4B4A-B6A7-FBF54FC9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B564E"/>
                </a:solidFill>
                <a:latin typeface="Arial"/>
                <a:ea typeface="Arial"/>
                <a:cs typeface="Arial"/>
              </a:rPr>
              <a:t>Brand guide  /  V5.1  / 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51E319-07E3-49D8-9D6E-F750D75C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57250"/>
            <a:ext cx="3143250" cy="49530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3D5A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50472B-EA56-439F-AFAC-9A076E25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276350"/>
            <a:ext cx="2305050" cy="4095750"/>
          </a:xfrm>
          <a:prstGeom xmlns:a="http://schemas.openxmlformats.org/drawingml/2006/main" prst="roundRect">
            <a:avLst>
              <a:gd name="adj" fmla="val 7438"/>
            </a:avLst>
          </a:prstGeom>
          <a:solidFill xmlns:a="http://schemas.openxmlformats.org/drawingml/2006/main">
            <a:srgbClr val="D9C8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AA9D48-7818-4EAB-BC9E-B9412DB2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33550"/>
            <a:ext cx="1619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B979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1477D4-C248-48A8-A1CE-34595A31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81350"/>
            <a:ext cx="1619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4E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3A744C-76B0-4BC4-88AF-6F385B9C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095875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125" b="1">
                <a:solidFill>
                  <a:srgbClr val="F5F4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5F4E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4EE"/>
                </a:solidFill>
                <a:latin typeface="Arial"/>
                <a:ea typeface="Arial"/>
                <a:cs typeface="Arial"/>
              </a:rPr>
              <a:t>OPEN</a:t>
            </a:r>
          </a:p>
          <a:p xmlns:a="http://schemas.openxmlformats.org/drawingml/2006/main">
            <a:pPr algn="ctr">
              <a:defRPr sz="1125" b="1">
                <a:solidFill>
                  <a:srgbClr val="F5F4E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4EE"/>
                </a:solidFill>
                <a:latin typeface="Arial"/>
                <a:ea typeface="Arial"/>
                <a:cs typeface="Arial"/>
              </a:rPr>
              <a:t>THE</a:t>
            </a:r>
          </a:p>
          <a:p xmlns:a="http://schemas.openxmlformats.org/drawingml/2006/main">
            <a:pPr algn="ctr">
              <a:defRPr sz="1125" b="1">
                <a:solidFill>
                  <a:srgbClr val="F5F4E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4EE"/>
                </a:solidFill>
                <a:latin typeface="Arial"/>
                <a:ea typeface="Arial"/>
                <a:cs typeface="Arial"/>
              </a:rPr>
              <a:t>DETAIL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489331-4C12-497A-A685-895F2C5D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B564E"/>
                </a:solidFill>
                <a:latin typeface="Arial"/>
                <a:ea typeface="Arial"/>
                <a:cs typeface="Arial"/>
              </a:rPr>
              <a:t>LIHATDULU  /  IDENTITY SYSTEM V5.1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448039-2DC3-4089-9170-F5FE5FD6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246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B564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210820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DE61BB-002F-4FCB-9EA6-2A3EBFA5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5A40"/>
                </a:solidFill>
                <a:latin typeface="Arial"/>
                <a:ea typeface="Arial"/>
                <a:cs typeface="Arial"/>
              </a:rPr>
              <a:t>01 / PURPOSE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880C23-2E3C-462E-B487-4FE01354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222923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2292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222923"/>
                </a:solidFill>
                <a:latin typeface="Georgia"/>
                <a:ea typeface="Georgia"/>
                <a:cs typeface="Georgia"/>
              </a:rPr>
              <a:t>A marketplace built around looking closely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557F1F-511B-4B50-A653-43DABFD1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64E"/>
                </a:solidFill>
                <a:latin typeface="Arial"/>
                <a:ea typeface="Arial"/>
                <a:cs typeface="Arial"/>
              </a:rPr>
              <a:t>A considered purchase begins with evidence you can understand.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988C0F-E853-44D3-9CC5-84EC7753F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E3708D-A850-4ED8-BC4A-2A58B3B3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4762500" cy="2819400"/>
          </a:xfrm>
          <a:prstGeom xmlns:a="http://schemas.openxmlformats.org/drawingml/2006/main" prst="roundRect">
            <a:avLst>
              <a:gd name="adj" fmla="val 6081"/>
            </a:avLst>
          </a:prstGeom>
          <a:solidFill xmlns:a="http://schemas.openxmlformats.org/drawingml/2006/main">
            <a:srgbClr val="3D5A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8AFF90-870E-428E-B804-6644388C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775" b="1">
                <a:solidFill>
                  <a:srgbClr val="F5F4EE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F5F4EE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F5F4EE"/>
                </a:solidFill>
                <a:latin typeface="Georgia"/>
                <a:ea typeface="Georgia"/>
                <a:cs typeface="Georgia"/>
              </a:rPr>
              <a:t>LihatDulu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739C26-5D64-4A2F-8491-F6F5F8E0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8135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>
                <a:solidFill>
                  <a:srgbClr val="E4E873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E4E873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E4E873"/>
                </a:solidFill>
                <a:latin typeface="Georgia"/>
                <a:ea typeface="Georgia"/>
                <a:cs typeface="Georgia"/>
              </a:rPr>
              <a:t>lihat dulu,</a:t>
            </a:r>
          </a:p>
          <a:p xmlns:a="http://schemas.openxmlformats.org/drawingml/2006/main">
            <a:pPr algn="l">
              <a:defRPr sz="2325" b="1">
                <a:solidFill>
                  <a:srgbClr val="E4E873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E4E873"/>
                </a:solidFill>
                <a:latin typeface="Georgia"/>
                <a:ea typeface="Georgia"/>
                <a:cs typeface="Georgia"/>
              </a:rPr>
              <a:t>baru pilih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F4242F-E385-40EA-AA1D-54EC53F1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03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5A40"/>
                </a:solidFill>
                <a:latin typeface="Arial"/>
                <a:ea typeface="Arial"/>
                <a:cs typeface="Arial"/>
              </a:rPr>
              <a:t>Purpose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200136-3FC6-4C74-A49B-23B75029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813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0">
                <a:solidFill>
                  <a:srgbClr val="2229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2292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923"/>
                </a:solidFill>
                <a:latin typeface="Arial"/>
                <a:ea typeface="Arial"/>
                <a:cs typeface="Arial"/>
              </a:rPr>
              <a:t>Make the condition, dimensions and handling context of a pre-owned piece legible before a buyer commits.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9F980B-DDF3-4914-BC3F-8B39938E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4E1E04-F02D-42A1-BFD6-26D07F39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62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5A40"/>
                </a:solidFill>
                <a:latin typeface="Arial"/>
                <a:ea typeface="Arial"/>
                <a:cs typeface="Arial"/>
              </a:rPr>
              <a:t>Signal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96FE88-F9F2-4387-9C1C-C1610A4E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243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564E"/>
                </a:solidFill>
                <a:latin typeface="Arial"/>
                <a:ea typeface="Arial"/>
                <a:cs typeface="Arial"/>
              </a:rPr>
              <a:t>careful evidence over urgency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01228D-08EB-4D6F-A24C-B73BB2B4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B564E"/>
                </a:solidFill>
                <a:latin typeface="Arial"/>
                <a:ea typeface="Arial"/>
                <a:cs typeface="Arial"/>
              </a:rPr>
              <a:t>LIHATDULU  /  IDENTITY SYSTEM V5.1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114306-EEFA-4FA5-AC27-D4834DEC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246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B564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013405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9A3F05-8B69-4521-904E-AF37E37C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5A40"/>
                </a:solidFill>
                <a:latin typeface="Arial"/>
                <a:ea typeface="Arial"/>
                <a:cs typeface="Arial"/>
              </a:rPr>
              <a:t>02 / MARK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546447-4333-4F0E-84D1-00B06774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222923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2292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222923"/>
                </a:solidFill>
                <a:latin typeface="Georgia"/>
                <a:ea typeface="Georgia"/>
                <a:cs typeface="Georgia"/>
              </a:rPr>
              <a:t>The aperture is the product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698A8C-3A7C-4EA6-A427-D8D1488A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64E"/>
                </a:solidFill>
                <a:latin typeface="Arial"/>
                <a:ea typeface="Arial"/>
                <a:cs typeface="Arial"/>
              </a:rPr>
              <a:t>One silhouette joins the act of looking with the frame of a piece of furniture.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554EBC-5850-47AD-8186-DBF33124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BB2BC1-C70E-4D86-B157-3A99FB76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1619250" cy="1619250"/>
          </a:xfrm>
          <a:prstGeom xmlns:a="http://schemas.openxmlformats.org/drawingml/2006/main" prst="roundRect">
            <a:avLst>
              <a:gd name="adj" fmla="val 18235"/>
            </a:avLst>
          </a:prstGeom>
          <a:solidFill xmlns:a="http://schemas.openxmlformats.org/drawingml/2006/main">
            <a:srgbClr val="2229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0763B3-9979-471F-91CD-66DDDF62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" y="2767965"/>
            <a:ext cx="1036320" cy="1036320"/>
          </a:xfrm>
          <a:prstGeom xmlns:a="http://schemas.openxmlformats.org/drawingml/2006/main" prst="roundRect">
            <a:avLst>
              <a:gd name="adj" fmla="val 12868"/>
            </a:avLst>
          </a:prstGeom>
          <a:solidFill xmlns:a="http://schemas.openxmlformats.org/drawingml/2006/main">
            <a:srgbClr val="F5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D96CD7-EDA4-4EAA-B991-65778560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" y="3464243"/>
            <a:ext cx="1036320" cy="2266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A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E19215-5993-4AD6-B647-69D18C46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00300"/>
            <a:ext cx="6477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0">
                <a:solidFill>
                  <a:srgbClr val="2229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2292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923"/>
                </a:solidFill>
                <a:latin typeface="Arial"/>
                <a:ea typeface="Arial"/>
                <a:cs typeface="Arial"/>
              </a:rPr>
              <a:t>The outer frame keeps the mark recognisable at small sizes. The inset opening creates a deliberate pause, while the lower bar anchors it like a shelf or cabinet base.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B6F85B-91BD-420C-BE3D-DE635DBE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52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5A40"/>
                </a:solidFill>
                <a:latin typeface="Arial"/>
                <a:ea typeface="Arial"/>
                <a:cs typeface="Arial"/>
              </a:rPr>
              <a:t>OPEN APERTURE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027342-B142-4A41-B8F3-EFB27C3E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57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64E"/>
                </a:solidFill>
                <a:latin typeface="Arial"/>
                <a:ea typeface="Arial"/>
                <a:cs typeface="Arial"/>
              </a:rPr>
              <a:t>A clear invitation to inspect.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C9B2A4-6245-4C73-B820-47F60902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52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5A40"/>
                </a:solidFill>
                <a:latin typeface="Arial"/>
                <a:ea typeface="Arial"/>
                <a:cs typeface="Arial"/>
              </a:rPr>
              <a:t>FURNITURE FRAME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983042-73F8-42A9-83F8-3061AB00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57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64E"/>
                </a:solidFill>
                <a:latin typeface="Arial"/>
                <a:ea typeface="Arial"/>
                <a:cs typeface="Arial"/>
              </a:rPr>
              <a:t>A grounded object, not a generic tech icon.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2B47FD-FA17-47DF-A05E-0B173270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B564E"/>
                </a:solidFill>
                <a:latin typeface="Arial"/>
                <a:ea typeface="Arial"/>
                <a:cs typeface="Arial"/>
              </a:rPr>
              <a:t>LIHATDULU  /  IDENTITY SYSTEM V5.1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2E64D7-B2B2-4C99-B857-BC26D329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246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B564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007501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ED96A7-CE21-4E97-B090-FFC4D8E5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5A40"/>
                </a:solidFill>
                <a:latin typeface="Arial"/>
                <a:ea typeface="Arial"/>
                <a:cs typeface="Arial"/>
              </a:rPr>
              <a:t>03 / LOCKUPS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C6271C-20D5-46C7-A510-7DD145EE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222923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2292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222923"/>
                </a:solidFill>
                <a:latin typeface="Georgia"/>
                <a:ea typeface="Georgia"/>
                <a:cs typeface="Georgia"/>
              </a:rPr>
              <a:t>Symbol, wordmark and lockup variants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B32CD5-C37B-4B69-BFC0-F726202C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64E"/>
                </a:solidFill>
                <a:latin typeface="Arial"/>
                <a:ea typeface="Arial"/>
                <a:cs typeface="Arial"/>
              </a:rPr>
              <a:t>Use the full lockup when the name carries recognition. Use the mark when space is scarce.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B4923F-206B-4F55-9EBF-F7266171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CC9E4E-78EF-406B-BD9D-1BB31796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990600" cy="990600"/>
          </a:xfrm>
          <a:prstGeom xmlns:a="http://schemas.openxmlformats.org/drawingml/2006/main" prst="roundRect">
            <a:avLst>
              <a:gd name="adj" fmla="val 18269"/>
            </a:avLst>
          </a:prstGeom>
          <a:solidFill xmlns:a="http://schemas.openxmlformats.org/drawingml/2006/main">
            <a:srgbClr val="2229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8FCC6D-6B1E-4B46-81A0-CBB84133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608" y="2711958"/>
            <a:ext cx="633984" cy="633984"/>
          </a:xfrm>
          <a:prstGeom xmlns:a="http://schemas.openxmlformats.org/drawingml/2006/main" prst="roundRect">
            <a:avLst>
              <a:gd name="adj" fmla="val 12019"/>
            </a:avLst>
          </a:prstGeom>
          <a:solidFill xmlns:a="http://schemas.openxmlformats.org/drawingml/2006/main">
            <a:srgbClr val="F5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F9981C-5417-45D5-A2F4-F9451ADB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608" y="3137916"/>
            <a:ext cx="633984" cy="1386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A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801D1D-A58A-4B94-8E0F-4CE23ED2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7813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700" b="1">
                <a:solidFill>
                  <a:srgbClr val="222923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222923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222923"/>
                </a:solidFill>
                <a:latin typeface="Georgia"/>
                <a:ea typeface="Georgia"/>
                <a:cs typeface="Georgia"/>
              </a:rPr>
              <a:t>LihatDulu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353D5A-988C-45DA-B1E6-3E76BD5B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4801F7-3CBE-42DD-8374-200DB81D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6096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229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F863F4-CC5B-45C1-B85B-F384B22A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" y="4586478"/>
            <a:ext cx="390144" cy="390144"/>
          </a:xfrm>
          <a:prstGeom xmlns:a="http://schemas.openxmlformats.org/drawingml/2006/main" prst="roundRect">
            <a:avLst>
              <a:gd name="adj" fmla="val 12207"/>
            </a:avLst>
          </a:prstGeom>
          <a:solidFill xmlns:a="http://schemas.openxmlformats.org/drawingml/2006/main">
            <a:srgbClr val="F5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FAEA30-011B-420C-88D7-41B73571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" y="4848606"/>
            <a:ext cx="390144" cy="853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A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AF19EF-CA1B-4D17-80A4-35C5D6DB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86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B564E"/>
                </a:solidFill>
                <a:latin typeface="Arial"/>
                <a:ea typeface="Arial"/>
                <a:cs typeface="Arial"/>
              </a:rPr>
              <a:t>Mark only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4E5CFE-4F08-43B6-A9A6-72874C4D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720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75" b="1">
                <a:solidFill>
                  <a:srgbClr val="222923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22923"/>
                </a:solidFill>
                <a:latin typeface="Georgia"/>
                <a:ea typeface="Georgia"/>
                <a:cs typeface="Georgia"/>
              </a:defRPr>
            </a:pPr>
            <a:r>
              <a:rPr sz="2175" b="1">
                <a:solidFill>
                  <a:srgbClr val="222923"/>
                </a:solidFill>
                <a:latin typeface="Georgia"/>
                <a:ea typeface="Georgia"/>
                <a:cs typeface="Georgia"/>
              </a:rPr>
              <a:t>LihatDulu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35DE0F-7E39-45B5-9EF5-59E9F7FB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9815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B564E"/>
                </a:solidFill>
                <a:latin typeface="Arial"/>
                <a:ea typeface="Arial"/>
                <a:cs typeface="Arial"/>
              </a:rPr>
              <a:t>Wordmark 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7A9BA6-3557-45A1-888F-E824E8FD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86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B564E"/>
                </a:solidFill>
                <a:latin typeface="Arial"/>
                <a:ea typeface="Arial"/>
                <a:cs typeface="Arial"/>
              </a:rPr>
              <a:t>Small-size lockup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AA16BB-4912-4C5F-A14E-A3DEB178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B564E"/>
                </a:solidFill>
                <a:latin typeface="Arial"/>
                <a:ea typeface="Arial"/>
                <a:cs typeface="Arial"/>
              </a:rPr>
              <a:t>LIHATDULU  /  IDENTITY SYSTEM V5.1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4C5B01-34CE-4FFB-A8F7-A438429A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246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B564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182626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22791F-16E8-4652-9BB7-3BE276A7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5A40"/>
                </a:solidFill>
                <a:latin typeface="Arial"/>
                <a:ea typeface="Arial"/>
                <a:cs typeface="Arial"/>
              </a:rPr>
              <a:t>04 / CONSTRUCTION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2D0010-D805-4EC0-A6A2-F7277D81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222923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2292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222923"/>
                </a:solidFill>
                <a:latin typeface="Georgia"/>
                <a:ea typeface="Georgia"/>
                <a:cs typeface="Georgia"/>
              </a:rPr>
              <a:t>Construction and clear space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9B0800-F565-4C40-BB17-6D4D6A35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64E"/>
                </a:solidFill>
                <a:latin typeface="Arial"/>
                <a:ea typeface="Arial"/>
                <a:cs typeface="Arial"/>
              </a:rPr>
              <a:t>The clear space is measured from the mark’s internal opening. Keep the lockup quiet around 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C24A80-27A9-4BA4-8308-6F37A18F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33EB1-716E-4961-9483-7B050F91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81250"/>
            <a:ext cx="3143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2292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2FD017-1C03-45C5-AF4F-B06AE02C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95600"/>
            <a:ext cx="2114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5A4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EB4704-00B1-476D-81D6-EFE22215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812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79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E44B9E-9865-45EF-AF43-73D55FF5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145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1">
                <a:solidFill>
                  <a:srgbClr val="B979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B979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97957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001D6A-9E64-40C2-B149-57321F62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79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42B28F-2414-4727-BEDE-93326BDD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670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1">
                <a:solidFill>
                  <a:srgbClr val="B979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B979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97957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24F2C7-2255-4363-AC3C-E62AD93C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479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2923"/>
                </a:solidFill>
                <a:latin typeface="Arial"/>
                <a:ea typeface="Arial"/>
                <a:cs typeface="Arial"/>
              </a:rPr>
              <a:t>x = width of inner opening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D2C1A6-CD2A-448B-A10D-E869B0F0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575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5A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87397B-6A52-4AA5-8EB7-57751509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00400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2229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2292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22923"/>
                </a:solidFill>
                <a:latin typeface="Arial"/>
                <a:ea typeface="Arial"/>
                <a:cs typeface="Arial"/>
              </a:rPr>
              <a:t>Minimum clear space: 1x on all sides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8AC4A8-E85C-4E78-B0FE-92FBEB72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6576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5A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27F260-5B08-46A1-88A2-F3F0B5D4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00450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2229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2292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22923"/>
                </a:solidFill>
                <a:latin typeface="Arial"/>
                <a:ea typeface="Arial"/>
                <a:cs typeface="Arial"/>
              </a:rPr>
              <a:t>Optical alignment follows the wordmark baseline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496000-CB8E-43E3-92DB-92B3384C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0576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5A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035DB3-7B34-4EA9-98F2-87957163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000500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2229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2292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22923"/>
                </a:solidFill>
                <a:latin typeface="Arial"/>
                <a:ea typeface="Arial"/>
                <a:cs typeface="Arial"/>
              </a:rPr>
              <a:t>Do not place inside a crowded product image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210A72-AA60-47B8-93CC-1823C656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B564E"/>
                </a:solidFill>
                <a:latin typeface="Arial"/>
                <a:ea typeface="Arial"/>
                <a:cs typeface="Arial"/>
              </a:rPr>
              <a:t>LIHATDULU  /  IDENTITY SYSTEM V5.1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FFE680-EBA9-4FC8-804C-BF5A2EBA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246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B564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593046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7F50C4-458A-4526-9CBE-1AA41854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5A40"/>
                </a:solidFill>
                <a:latin typeface="Arial"/>
                <a:ea typeface="Arial"/>
                <a:cs typeface="Arial"/>
              </a:rPr>
              <a:t>05 / MINIMUM SIZE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FBF54D-6647-4274-8DDE-0B9CB3824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222923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2292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222923"/>
                </a:solidFill>
                <a:latin typeface="Georgia"/>
                <a:ea typeface="Georgia"/>
                <a:cs typeface="Georgia"/>
              </a:rPr>
              <a:t>Legible at the size people actually use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9A8573-DFBC-498B-A7BE-31A6C463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64E"/>
                </a:solidFill>
                <a:latin typeface="Arial"/>
                <a:ea typeface="Arial"/>
                <a:cs typeface="Arial"/>
              </a:rPr>
              <a:t>The mark stays open and distinct in browser chrome, mobile navigation and seller tools.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D823A1-8FD2-4A65-A447-00500743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A1D369-4D37-47D4-9764-A5CD5F76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52400" cy="152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229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D970A8-C2C1-42F3-AB3D-0692AA64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" y="2599182"/>
            <a:ext cx="97536" cy="97536"/>
          </a:xfrm>
          <a:prstGeom xmlns:a="http://schemas.openxmlformats.org/drawingml/2006/main" prst="roundRect">
            <a:avLst>
              <a:gd name="adj" fmla="val 9766"/>
            </a:avLst>
          </a:prstGeom>
          <a:solidFill xmlns:a="http://schemas.openxmlformats.org/drawingml/2006/main">
            <a:srgbClr val="F5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037249-31E2-433B-ACD4-37E8000A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" y="2664714"/>
            <a:ext cx="97536" cy="21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A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38F4B7-BF0C-4AA6-AFAE-654A8161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22923"/>
                </a:solidFill>
                <a:latin typeface="Arial"/>
                <a:ea typeface="Arial"/>
                <a:cs typeface="Arial"/>
              </a:rPr>
              <a:t>Favicon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64E40-D42C-45F9-A8B9-D4B5D2BC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64E"/>
                </a:solidFill>
                <a:latin typeface="Arial"/>
                <a:ea typeface="Arial"/>
                <a:cs typeface="Arial"/>
              </a:rPr>
              <a:t>16 px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289CE8-25A5-4BB0-8953-B64B8B6D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71750"/>
            <a:ext cx="228600" cy="2286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229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BD0DD0-7554-4FE5-8EF5-C8A142A1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0148" y="2612898"/>
            <a:ext cx="146304" cy="146304"/>
          </a:xfrm>
          <a:prstGeom xmlns:a="http://schemas.openxmlformats.org/drawingml/2006/main" prst="roundRect">
            <a:avLst>
              <a:gd name="adj" fmla="val 13021"/>
            </a:avLst>
          </a:prstGeom>
          <a:solidFill xmlns:a="http://schemas.openxmlformats.org/drawingml/2006/main">
            <a:srgbClr val="F5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6328BB-B09F-4FFC-9AC0-123D6C5B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0148" y="2711196"/>
            <a:ext cx="146304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A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76CC02-E17A-490F-A17F-A2303C14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00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22923"/>
                </a:solidFill>
                <a:latin typeface="Arial"/>
                <a:ea typeface="Arial"/>
                <a:cs typeface="Arial"/>
              </a:rPr>
              <a:t>Mobile mark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5F69D1-454B-4CAC-8E20-F4EE63AC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86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64E"/>
                </a:solidFill>
                <a:latin typeface="Arial"/>
                <a:ea typeface="Arial"/>
                <a:cs typeface="Arial"/>
              </a:rPr>
              <a:t>24 px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4CCFE3-2FBF-47E4-A93D-EEFDEFBF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71750"/>
            <a:ext cx="685800" cy="685800"/>
          </a:xfrm>
          <a:prstGeom xmlns:a="http://schemas.openxmlformats.org/drawingml/2006/main" prst="roundRect">
            <a:avLst>
              <a:gd name="adj" fmla="val 18056"/>
            </a:avLst>
          </a:prstGeom>
          <a:solidFill xmlns:a="http://schemas.openxmlformats.org/drawingml/2006/main">
            <a:srgbClr val="2229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C9B315-7F2D-4E1A-93B9-6093AA2F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8944" y="2695194"/>
            <a:ext cx="438912" cy="438912"/>
          </a:xfrm>
          <a:prstGeom xmlns:a="http://schemas.openxmlformats.org/drawingml/2006/main" prst="roundRect">
            <a:avLst>
              <a:gd name="adj" fmla="val 13021"/>
            </a:avLst>
          </a:prstGeom>
          <a:solidFill xmlns:a="http://schemas.openxmlformats.org/drawingml/2006/main">
            <a:srgbClr val="F5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5C0DC3-4E52-492C-BD70-15BAB4FA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8944" y="2990088"/>
            <a:ext cx="438912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A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22C13E-6A27-45CE-A098-7A691042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00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22923"/>
                </a:solidFill>
                <a:latin typeface="Arial"/>
                <a:ea typeface="Arial"/>
                <a:cs typeface="Arial"/>
              </a:rPr>
              <a:t>Compact lockup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E97EEB-C8AB-4FCF-8C58-C664D697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86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64E"/>
                </a:solidFill>
                <a:latin typeface="Arial"/>
                <a:ea typeface="Arial"/>
                <a:cs typeface="Arial"/>
              </a:rPr>
              <a:t>72 px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C8CC8D-727A-4ED6-8EE0-03F7D7A6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71750"/>
            <a:ext cx="1219200" cy="1219200"/>
          </a:xfrm>
          <a:prstGeom xmlns:a="http://schemas.openxmlformats.org/drawingml/2006/main" prst="roundRect">
            <a:avLst>
              <a:gd name="adj" fmla="val 17969"/>
            </a:avLst>
          </a:prstGeom>
          <a:solidFill xmlns:a="http://schemas.openxmlformats.org/drawingml/2006/main">
            <a:srgbClr val="2229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1C5BF9-47B8-415D-B97B-76AB9944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456" y="2791206"/>
            <a:ext cx="780288" cy="780288"/>
          </a:xfrm>
          <a:prstGeom xmlns:a="http://schemas.openxmlformats.org/drawingml/2006/main" prst="roundRect">
            <a:avLst>
              <a:gd name="adj" fmla="val 12207"/>
            </a:avLst>
          </a:prstGeom>
          <a:solidFill xmlns:a="http://schemas.openxmlformats.org/drawingml/2006/main">
            <a:srgbClr val="F5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966A42-AFAE-44E1-8C78-CBE070F0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456" y="3315462"/>
            <a:ext cx="780288" cy="170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A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669837-0607-4781-AFC3-9F701864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00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22923"/>
                </a:solidFill>
                <a:latin typeface="Arial"/>
                <a:ea typeface="Arial"/>
                <a:cs typeface="Arial"/>
              </a:rPr>
              <a:t>Editorial lockup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932FBB-1619-4718-B3BD-88206379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86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64E"/>
                </a:solidFill>
                <a:latin typeface="Arial"/>
                <a:ea typeface="Arial"/>
                <a:cs typeface="Arial"/>
              </a:rPr>
              <a:t>128 px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BE1340-EF95-4F0A-BC5A-8AB3D8D0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64E"/>
                </a:solidFill>
                <a:latin typeface="Arial"/>
                <a:ea typeface="Arial"/>
                <a:cs typeface="Arial"/>
              </a:rPr>
              <a:t>At 16px, preserve the mark only. The wordmark needs 72px of width to keep its counters open.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E9A7F2-C0C2-455C-BA05-363A5FEA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B564E"/>
                </a:solidFill>
                <a:latin typeface="Arial"/>
                <a:ea typeface="Arial"/>
                <a:cs typeface="Arial"/>
              </a:rPr>
              <a:t>LIHATDULU  /  IDENTITY SYSTEM V5.1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4A3E6B-1A91-41C5-86B7-39BFCA74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246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B564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43880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7B9ED2-5205-4158-8B36-393D539F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5A40"/>
                </a:solidFill>
                <a:latin typeface="Arial"/>
                <a:ea typeface="Arial"/>
                <a:cs typeface="Arial"/>
              </a:rPr>
              <a:t>06 / COLOUR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D9A4BB-8383-4F06-A638-BADC5EE6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222923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2292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222923"/>
                </a:solidFill>
                <a:latin typeface="Georgia"/>
                <a:ea typeface="Georgia"/>
                <a:cs typeface="Georgia"/>
              </a:rPr>
              <a:t>Colour carries role, not decoration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4E0181-801E-4D93-96D4-2A345DAC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64E"/>
                </a:solidFill>
                <a:latin typeface="Arial"/>
                <a:ea typeface="Arial"/>
                <a:cs typeface="Arial"/>
              </a:rPr>
              <a:t>Bone and charcoal establish a calm field. Moss marks action and care. Yellow marks discovery and selected state.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12B804-AB37-489C-B0C4-0C7B10C4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8881FA-149C-47A3-908D-916564E0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2381250" cy="1009650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F5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05D970-B20E-4ED7-81FF-A97075E6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22923"/>
                </a:solidFill>
                <a:latin typeface="Arial"/>
                <a:ea typeface="Arial"/>
                <a:cs typeface="Arial"/>
              </a:rPr>
              <a:t>Bone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5FA6C6-3FE5-4919-BB2A-26E61DE9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64E"/>
                </a:solidFill>
                <a:latin typeface="Arial"/>
                <a:ea typeface="Arial"/>
                <a:cs typeface="Arial"/>
              </a:rPr>
              <a:t>#F5F4EE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1B17FE-20C6-4A2C-B8DB-BC00842C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66950"/>
            <a:ext cx="2381250" cy="1009650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2229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1229BA-8376-45CD-8F6F-6F49C2137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09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22923"/>
                </a:solidFill>
                <a:latin typeface="Arial"/>
                <a:ea typeface="Arial"/>
                <a:cs typeface="Arial"/>
              </a:rPr>
              <a:t>Charcoal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AC1E3B-E445-42AC-BA32-C90A9085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76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64E"/>
                </a:solidFill>
                <a:latin typeface="Arial"/>
                <a:ea typeface="Arial"/>
                <a:cs typeface="Arial"/>
              </a:rPr>
              <a:t>#222923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CB5EEC-C770-463E-98B7-A9F0F32D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66950"/>
            <a:ext cx="2381250" cy="1009650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3D5A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F10FF2-EE86-4E16-92F7-92D31016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09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22923"/>
                </a:solidFill>
                <a:latin typeface="Arial"/>
                <a:ea typeface="Arial"/>
                <a:cs typeface="Arial"/>
              </a:rPr>
              <a:t>Moss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F3B58F-5F30-484B-BD7D-4EB3CF1E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76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64E"/>
                </a:solidFill>
                <a:latin typeface="Arial"/>
                <a:ea typeface="Arial"/>
                <a:cs typeface="Arial"/>
              </a:rPr>
              <a:t>#3D5A40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656129-1414-4DCF-B1F1-D6F6529A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2381250" cy="1009650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E4E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144E27-2C53-4D3F-BEEE-4B9BD37B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244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22923"/>
                </a:solidFill>
                <a:latin typeface="Arial"/>
                <a:ea typeface="Arial"/>
                <a:cs typeface="Arial"/>
              </a:rPr>
              <a:t>Catalogue yellow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FF6D14-F6A1-4D6B-BF45-802B9F63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911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64E"/>
                </a:solidFill>
                <a:latin typeface="Arial"/>
                <a:ea typeface="Arial"/>
                <a:cs typeface="Arial"/>
              </a:rPr>
              <a:t>#E4E873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B7D9A0-78F9-493F-9594-4DBB44EE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81450"/>
            <a:ext cx="2381250" cy="1009650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D9C8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B836A8-00BF-4C99-A882-F85D11E1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244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22923"/>
                </a:solidFill>
                <a:latin typeface="Arial"/>
                <a:ea typeface="Arial"/>
                <a:cs typeface="Arial"/>
              </a:rPr>
              <a:t>Sand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AA7241-5AA9-4384-AAE5-245E4326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911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64E"/>
                </a:solidFill>
                <a:latin typeface="Arial"/>
                <a:ea typeface="Arial"/>
                <a:cs typeface="Arial"/>
              </a:rPr>
              <a:t>#D9C8AD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EDD8A7-E905-4CC0-B6D0-3ED81CB5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81450"/>
            <a:ext cx="2381250" cy="1009650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B979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690D6B-2034-4306-B1B5-0C594D6F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244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22923"/>
                </a:solidFill>
                <a:latin typeface="Arial"/>
                <a:ea typeface="Arial"/>
                <a:cs typeface="Arial"/>
              </a:rPr>
              <a:t>Clay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B63B42-C208-4065-BD8F-268435DE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3911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64E"/>
                </a:solidFill>
                <a:latin typeface="Arial"/>
                <a:ea typeface="Arial"/>
                <a:cs typeface="Arial"/>
              </a:rPr>
              <a:t>#B97957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40B7F1-9AE3-4CA7-805F-DFBAE7D0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B564E"/>
                </a:solidFill>
                <a:latin typeface="Arial"/>
                <a:ea typeface="Arial"/>
                <a:cs typeface="Arial"/>
              </a:rPr>
              <a:t>LIHATDULU  /  IDENTITY SYSTEM V5.1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DF0F8A-57B7-4DFC-8942-83911D4F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246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B564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291102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243CAE-1A37-4DA4-9D16-2E85ED30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5A40"/>
                </a:solidFill>
                <a:latin typeface="Arial"/>
                <a:ea typeface="Arial"/>
                <a:cs typeface="Arial"/>
              </a:rPr>
              <a:t>07 / COLOUR ROLES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831C4E-1B48-4A3A-8325-E293FC0F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222923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2292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222923"/>
                </a:solidFill>
                <a:latin typeface="Georgia"/>
                <a:ea typeface="Georgia"/>
                <a:cs typeface="Georgia"/>
              </a:rPr>
              <a:t>Colour decisions across the 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E60082-344D-46E6-8DFE-0EA5EEE9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64E"/>
                </a:solidFill>
                <a:latin typeface="Arial"/>
                <a:ea typeface="Arial"/>
                <a:cs typeface="Arial"/>
              </a:rPr>
              <a:t>Role assignment keeps catalogue, checkout, seller workspace and capture feeling like one product.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E4B31F-8052-49A6-A4C9-7B3708FC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CD68C3-BEA9-4A61-9900-D8DCEC41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266700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3D5A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C66818-9967-4EB8-A356-EE53B348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F5F4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5F4E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4EE"/>
                </a:solidFill>
                <a:latin typeface="Arial"/>
                <a:ea typeface="Arial"/>
                <a:cs typeface="Arial"/>
              </a:rPr>
              <a:t>Primary 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5B3BEB-8C0D-444A-8F73-BDD5F15C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0990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F5F4EE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5F4EE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F5F4EE"/>
                </a:solidFill>
                <a:latin typeface="Georgia"/>
                <a:ea typeface="Georgia"/>
                <a:cs typeface="Georgia"/>
              </a:rPr>
              <a:t>Lihat detail</a:t>
            </a:r>
          </a:p>
          <a:p xmlns:a="http://schemas.openxmlformats.org/drawingml/2006/main">
            <a:pPr algn="l">
              <a:defRPr sz="1650" b="1">
                <a:solidFill>
                  <a:srgbClr val="F5F4EE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F5F4EE"/>
                </a:solidFill>
                <a:latin typeface="Georgia"/>
                <a:ea typeface="Georgia"/>
                <a:cs typeface="Georgia"/>
              </a:rPr>
              <a:t>Tambah ke keranjang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F76C71-6C52-4550-AEC4-FC5BBEAF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247900"/>
            <a:ext cx="266700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E4E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F1D36D-DE5F-4722-BE97-6A9240AF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52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22923"/>
                </a:solidFill>
                <a:latin typeface="Arial"/>
                <a:ea typeface="Arial"/>
                <a:cs typeface="Arial"/>
              </a:rPr>
              <a:t>Selection 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521143-6D90-49AE-8ACA-71FFB744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0990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222923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22923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222923"/>
                </a:solidFill>
                <a:latin typeface="Georgia"/>
                <a:ea typeface="Georgia"/>
                <a:cs typeface="Georgia"/>
              </a:rPr>
              <a:t>Filter aktif</a:t>
            </a:r>
          </a:p>
          <a:p xmlns:a="http://schemas.openxmlformats.org/drawingml/2006/main">
            <a:pPr algn="l">
              <a:defRPr sz="1650" b="1">
                <a:solidFill>
                  <a:srgbClr val="222923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222923"/>
                </a:solidFill>
                <a:latin typeface="Georgia"/>
                <a:ea typeface="Georgia"/>
                <a:cs typeface="Georgia"/>
              </a:rPr>
              <a:t>Saved item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738239-203E-4805-922B-87847565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47900"/>
            <a:ext cx="266700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6971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57C70C-D4B7-4AF8-8AE6-86057A14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52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F5F4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5F4E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4EE"/>
                </a:solidFill>
                <a:latin typeface="Arial"/>
                <a:ea typeface="Arial"/>
                <a:cs typeface="Arial"/>
              </a:rPr>
              <a:t>Capture surface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998C17-4FA3-4804-9E4A-84183140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0990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F5F4EE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5F4EE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F5F4EE"/>
                </a:solidFill>
                <a:latin typeface="Georgia"/>
                <a:ea typeface="Georgia"/>
                <a:cs typeface="Georgia"/>
              </a:rPr>
              <a:t>Sora</a:t>
            </a:r>
          </a:p>
          <a:p xmlns:a="http://schemas.openxmlformats.org/drawingml/2006/main">
            <a:pPr algn="l">
              <a:defRPr sz="1650" b="1">
                <a:solidFill>
                  <a:srgbClr val="F5F4EE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F5F4EE"/>
                </a:solidFill>
                <a:latin typeface="Georgia"/>
                <a:ea typeface="Georgia"/>
                <a:cs typeface="Georgia"/>
              </a:rPr>
              <a:t>Viewport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790933-02A4-40CF-9B31-350B2C2F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B564E"/>
                </a:solidFill>
                <a:latin typeface="Arial"/>
                <a:ea typeface="Arial"/>
                <a:cs typeface="Arial"/>
              </a:rPr>
              <a:t>LIHATDULU  /  IDENTITY SYSTEM V5.1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0CD3D3-B715-4696-899F-C0B96536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246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B564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162909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55AEED-8B2F-48C2-888D-069A5BF5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5A40"/>
                </a:solidFill>
                <a:latin typeface="Arial"/>
                <a:ea typeface="Arial"/>
                <a:cs typeface="Arial"/>
              </a:rPr>
              <a:t>08 / TYPOGRAPHY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634CBA-8681-49C9-B870-9BB1A8418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222923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2292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222923"/>
                </a:solidFill>
                <a:latin typeface="Georgia"/>
                <a:ea typeface="Georgia"/>
                <a:cs typeface="Georgia"/>
              </a:rPr>
              <a:t>A warm editorial note inside a clear interface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CA460B-01BC-4A5E-A363-E65555A7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64E"/>
                </a:solidFill>
                <a:latin typeface="Arial"/>
                <a:ea typeface="Arial"/>
                <a:cs typeface="Arial"/>
              </a:rPr>
              <a:t>Plus Jakarta Sans handles every interaction. Georgia appears only where the brand needs a slower reading pace.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3C3869-6EB9-41C4-A773-563C54E6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837678-EF6F-4FA1-9BEC-58DBE7C4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552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500" b="1">
                <a:solidFill>
                  <a:srgbClr val="222923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4500" b="1">
                <a:solidFill>
                  <a:srgbClr val="222923"/>
                </a:solidFill>
                <a:latin typeface="Georgia"/>
                <a:ea typeface="Georgia"/>
                <a:cs typeface="Georgia"/>
              </a:defRPr>
            </a:pPr>
            <a:r>
              <a:rPr sz="4500" b="1">
                <a:solidFill>
                  <a:srgbClr val="222923"/>
                </a:solidFill>
                <a:latin typeface="Georgia"/>
                <a:ea typeface="Georgia"/>
                <a:cs typeface="Georgia"/>
              </a:rPr>
              <a:t>LihatDulu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856093-717A-4E29-B901-C7943878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75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D5A40"/>
                </a:solidFill>
                <a:latin typeface="Arial"/>
                <a:ea typeface="Arial"/>
                <a:cs typeface="Arial"/>
              </a:rPr>
              <a:t>Plus Jakarta Sans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753FE0-256B-40B8-943A-EB104839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64E"/>
                </a:solidFill>
                <a:latin typeface="Arial"/>
                <a:ea typeface="Arial"/>
                <a:cs typeface="Arial"/>
              </a:rPr>
              <a:t>Teks navigasi, metadata, kondisi, dimensi, tombol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3E4629-AED9-48F2-865D-B31421DA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290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>
                <a:solidFill>
                  <a:srgbClr val="222923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22923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222923"/>
                </a:solidFill>
                <a:latin typeface="Georgia"/>
                <a:ea typeface="Georgia"/>
                <a:cs typeface="Georgia"/>
              </a:rPr>
              <a:t>Georgia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ECC3DF-E579-499D-A7FD-C3A7F755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481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64E"/>
                </a:solidFill>
                <a:latin typeface="Arial"/>
                <a:ea typeface="Arial"/>
                <a:cs typeface="Arial"/>
              </a:rPr>
              <a:t>Judul pembuka dan brand story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93A257-46E3-4592-ABD8-225199C8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91100"/>
            <a:ext cx="838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2229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2292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22923"/>
                </a:solidFill>
                <a:latin typeface="Arial"/>
                <a:ea typeface="Arial"/>
                <a:cs typeface="Arial"/>
              </a:rPr>
              <a:t>Body 16–18 px  /  Headline 34–58 px  /  Label 12–14 px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1FB1FB-F668-4A18-97C9-3741003A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B564E"/>
                </a:solidFill>
                <a:latin typeface="Arial"/>
                <a:ea typeface="Arial"/>
                <a:cs typeface="Arial"/>
              </a:rPr>
              <a:t>LIHATDULU  /  IDENTITY SYSTEM V5.1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B35F63-8136-4F88-A123-3DA5194B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246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B564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371663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ED5CBC-AAD1-4593-B9BC-686BE356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5A40"/>
                </a:solidFill>
                <a:latin typeface="Arial"/>
                <a:ea typeface="Arial"/>
                <a:cs typeface="Arial"/>
              </a:rPr>
              <a:t>09 / GRID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67E1B7-0EB2-40B7-ABCA-B26AFEFF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222923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2292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222923"/>
                </a:solidFill>
                <a:latin typeface="Georgia"/>
                <a:ea typeface="Georgia"/>
                <a:cs typeface="Georgia"/>
              </a:rPr>
              <a:t>A quiet frame for an object with a history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FB04D7-B8F0-4E69-8899-CCA0E2F4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64E"/>
                </a:solidFill>
                <a:latin typeface="Arial"/>
                <a:ea typeface="Arial"/>
                <a:cs typeface="Arial"/>
              </a:rPr>
              <a:t>The interface gives imagery room while keeping evidence close to the decision.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97DB3E-8228-4945-8B90-B531D91A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CAD6B3-EC50-4ABA-9105-31C3E70C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67353A-25EC-45DD-A88E-367213F3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3431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D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BFE1AC-5B72-4141-B4F4-1B500AA9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3431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3DE8F0-FABD-4F00-B421-F1A64AEF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431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53D83C-9EFF-4F2D-BB43-B1878FD2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431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D4E354-CCD3-4F4A-8B02-425A998B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431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BD3656-9DED-4C9C-B525-356EDD0A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431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A4BBF5-842E-4ECC-B056-A85FE4BA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431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973077-7A38-4D1D-830B-83273CF0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431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0BFD71-BD1A-49B8-AECD-191506C0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431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86D0EA-A5EA-469A-BB6F-437DF93B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431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FBD4E9-1C72-45BF-9993-C86F9CFF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3431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BC1000-B983-4308-98D3-ABDD32E8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8665D0-3553-464C-8B2D-ECEED697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2E9720-B298-4B55-AA1F-E787D5DC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D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F77623-B4F3-402F-87D2-70101531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DB5D7B-EA18-418E-A6E9-7D243B2D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D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108A7F-4BFB-4666-9EE6-7BB798C5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762250"/>
            <a:ext cx="342900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D9C8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9EF31A-8B4E-43B1-B2B5-25E5C326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6385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650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2923"/>
                </a:solidFill>
                <a:latin typeface="Arial"/>
                <a:ea typeface="Arial"/>
                <a:cs typeface="Arial"/>
              </a:rPr>
              <a:t>Product image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E88D29-5E0D-4C16-84B6-31C8BC88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762250"/>
            <a:ext cx="28956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6D9D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D3D90D-7F8D-46E9-87A1-936BA3F9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333750"/>
            <a:ext cx="2190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2229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2292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22923"/>
                </a:solidFill>
                <a:latin typeface="Arial"/>
                <a:ea typeface="Arial"/>
                <a:cs typeface="Arial"/>
              </a:rPr>
              <a:t>Facts</a:t>
            </a:r>
          </a:p>
          <a:p xmlns:a="http://schemas.openxmlformats.org/drawingml/2006/main">
            <a:pPr algn="l">
              <a:defRPr sz="1350" b="0">
                <a:solidFill>
                  <a:srgbClr val="22292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22923"/>
                </a:solidFill>
                <a:latin typeface="Arial"/>
                <a:ea typeface="Arial"/>
                <a:cs typeface="Arial"/>
              </a:rPr>
              <a:t>90 × 47,5 × 120 cm</a:t>
            </a:r>
          </a:p>
          <a:p xmlns:a="http://schemas.openxmlformats.org/drawingml/2006/main">
            <a:pPr algn="l">
              <a:defRPr sz="1350" b="0">
                <a:solidFill>
                  <a:srgbClr val="22292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22923"/>
                </a:solidFill>
                <a:latin typeface="Arial"/>
                <a:ea typeface="Arial"/>
                <a:cs typeface="Arial"/>
              </a:rPr>
              <a:t>Jati · Jakarta Selatan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B1F103-A626-425B-896B-08B33172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64E"/>
                </a:solidFill>
                <a:latin typeface="Arial"/>
                <a:ea typeface="Arial"/>
                <a:cs typeface="Arial"/>
              </a:rPr>
              <a:t>12 columns  /  24px gutters  /  40px margins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CDD1E6-5873-472A-977E-EA60572E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B564E"/>
                </a:solidFill>
                <a:latin typeface="Arial"/>
                <a:ea typeface="Arial"/>
                <a:cs typeface="Arial"/>
              </a:rPr>
              <a:t>LIHATDULU  /  IDENTITY SYSTEM V5.1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CCFB58-F698-489D-AC61-0B4ABCF8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246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B564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591882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D0F7A0-25ED-449B-B75B-FE3C6EAC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5A40"/>
                </a:solidFill>
                <a:latin typeface="Arial"/>
                <a:ea typeface="Arial"/>
                <a:cs typeface="Arial"/>
              </a:rPr>
              <a:t>10 /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A3B3F-6227-4A64-8D10-004F21A3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222923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2292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222923"/>
                </a:solidFill>
                <a:latin typeface="Georgia"/>
                <a:ea typeface="Georgia"/>
                <a:cs typeface="Georgia"/>
              </a:rPr>
              <a:t>The image is evidence, not wallpaper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C2F2AE-774D-463E-BF62-09756826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64E"/>
                </a:solidFill>
                <a:latin typeface="Arial"/>
                <a:ea typeface="Arial"/>
                <a:cs typeface="Arial"/>
              </a:rPr>
              <a:t>Product imagery shows the piece from enough angles to support a decision.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68987B-8076-4FEA-B4AA-2F1C36BE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D1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2136B5-9935-41FD-8238-5E56241A19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b6b6484821457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2190750"/>
            <a:ext cx="2857500" cy="238125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669CA4-DCC8-4B4C-B10A-8EE7A6CBB8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419e18f3064e2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10000" y="2190750"/>
            <a:ext cx="2857500" cy="238125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7999CF-108A-4045-A97F-FF3D16E5FA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f975bc3315424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15150" y="2190750"/>
            <a:ext cx="2857500" cy="2381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B8903D-1F0A-40D3-BE0E-0E500FB1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22923"/>
                </a:solidFill>
                <a:latin typeface="Arial"/>
                <a:ea typeface="Arial"/>
                <a:cs typeface="Arial"/>
              </a:rPr>
              <a:t>Front silhouette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674667-F4D7-4E29-A502-9274C09C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57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22923"/>
                </a:solidFill>
                <a:latin typeface="Arial"/>
                <a:ea typeface="Arial"/>
                <a:cs typeface="Arial"/>
              </a:rPr>
              <a:t>Working detail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A18382-3A9C-4E5B-976E-06938AA6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857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22923"/>
                </a:solidFill>
                <a:latin typeface="Arial"/>
                <a:ea typeface="Arial"/>
                <a:cs typeface="Arial"/>
              </a:rPr>
              <a:t>Disclosed wear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8B8746-4631-443C-B4E1-D8F893FB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292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64E"/>
                </a:solidFill>
                <a:latin typeface="Arial"/>
                <a:ea typeface="Arial"/>
                <a:cs typeface="Arial"/>
              </a:rPr>
              <a:t>Captions name what the viewer can verify. Condition language remains specific and honest.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F2296D-264F-41B2-AFE3-A6344FEC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B564E"/>
                </a:solidFill>
                <a:latin typeface="Arial"/>
                <a:ea typeface="Arial"/>
                <a:cs typeface="Arial"/>
              </a:rPr>
              <a:t>LIHATDULU  /  IDENTITY SYSTEM V5.1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16B46E-8AE9-4E54-A597-DB1C430C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246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B564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331020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E65FF0-8FFC-4C63-B38A-92C0F418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5A40"/>
                </a:solidFill>
                <a:latin typeface="Arial"/>
                <a:ea typeface="Arial"/>
                <a:cs typeface="Arial"/>
              </a:rPr>
              <a:t>11 /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802323-7D63-46E1-854B-24DC003B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222923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2292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222923"/>
                </a:solidFill>
                <a:latin typeface="Georgia"/>
                <a:ea typeface="Georgia"/>
                <a:cs typeface="Georgia"/>
              </a:rPr>
              <a:t>Control language for looking and deciding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0F4AC3-F706-41FE-95EA-8F59D554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64E"/>
                </a:solidFill>
                <a:latin typeface="Arial"/>
                <a:ea typeface="Arial"/>
                <a:cs typeface="Arial"/>
              </a:rPr>
              <a:t>Quiet controls keep attention on the object, while state is always visible.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B338CA-F392-4938-9C1E-1767EDB6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85BCFE-AB6E-4E4A-8352-CE09DACF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5F4EE"/>
          </a:solidFill>
          <a:ln xmlns:a="http://schemas.openxmlformats.org/drawingml/2006/main" w="9525">
            <a:solidFill>
              <a:srgbClr val="3D5A4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433D4D-E7D0-4F43-B166-E80CCDFA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00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5A40"/>
                </a:solidFill>
                <a:latin typeface="Arial"/>
                <a:ea typeface="Arial"/>
                <a:cs typeface="Arial"/>
              </a:rPr>
              <a:t>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257B7F-8769-4F10-AAF7-EA5048CB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31457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2923"/>
                </a:solidFill>
                <a:latin typeface="Arial"/>
                <a:ea typeface="Arial"/>
                <a:cs typeface="Arial"/>
              </a:rPr>
              <a:t>Rotate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F83326-7C6B-4112-9B46-F75FCB1B2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717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64E"/>
                </a:solidFill>
                <a:latin typeface="Arial"/>
                <a:ea typeface="Arial"/>
                <a:cs typeface="Arial"/>
              </a:rPr>
              <a:t>Drag or use buttons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1B74F3-3E2E-49E2-81C8-A70FE79B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1460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B74107-2780-428F-9631-1F73DFD2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5F4EE"/>
          </a:solidFill>
          <a:ln xmlns:a="http://schemas.openxmlformats.org/drawingml/2006/main" w="9525">
            <a:solidFill>
              <a:srgbClr val="3D5A4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31616F-0CBC-43E9-8882-137A95A2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00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5A40"/>
                </a:solidFill>
                <a:latin typeface="Arial"/>
                <a:ea typeface="Arial"/>
                <a:cs typeface="Arial"/>
              </a:rPr>
              <a:t>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43C082-D26C-431C-971D-DB3631D2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3847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2923"/>
                </a:solidFill>
                <a:latin typeface="Arial"/>
                <a:ea typeface="Arial"/>
                <a:cs typeface="Arial"/>
              </a:rPr>
              <a:t>Inspect wear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792D37-8C02-4ACF-8F53-2E3D1F68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956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64E"/>
                </a:solidFill>
                <a:latin typeface="Arial"/>
                <a:ea typeface="Arial"/>
                <a:cs typeface="Arial"/>
              </a:rPr>
              <a:t>Open a named detail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D0637B-7B19-4F88-B685-04234D5F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3850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E4D9F6-6E50-4334-8912-1B0A8B16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D5A40"/>
          </a:solidFill>
          <a:ln xmlns:a="http://schemas.openxmlformats.org/drawingml/2006/main" w="9525">
            <a:solidFill>
              <a:srgbClr val="3D5A4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16C72A-9CDD-4C59-96DE-8A53CDC5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00" b="1">
                <a:solidFill>
                  <a:srgbClr val="F5F4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5F4E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F4EE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369E2E-3F0B-49A8-9647-1B252B9F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76237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2923"/>
                </a:solidFill>
                <a:latin typeface="Arial"/>
                <a:ea typeface="Arial"/>
                <a:cs typeface="Arial"/>
              </a:rPr>
              <a:t>Add to cart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E192FE-1116-4EAB-A2D0-94A06803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195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64E"/>
                </a:solidFill>
                <a:latin typeface="Arial"/>
                <a:ea typeface="Arial"/>
                <a:cs typeface="Arial"/>
              </a:rPr>
              <a:t>One piece, one quantity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22BF2B-3615-4C5D-AFC7-04A33315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6240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D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C528A6-D722-4F70-88D7-615D4387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5F4EE"/>
          </a:solidFill>
          <a:ln xmlns:a="http://schemas.openxmlformats.org/drawingml/2006/main" w="9525">
            <a:solidFill>
              <a:srgbClr val="3D5A4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6598E8-1BEC-428A-AE78-EF42F46B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00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5A40"/>
                </a:solidFill>
                <a:latin typeface="Arial"/>
                <a:ea typeface="Arial"/>
                <a:cs typeface="Arial"/>
              </a:rPr>
              <a:t>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D4CE30-D96C-4C47-B74A-4EC0EF20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8627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2923"/>
                </a:solidFill>
                <a:latin typeface="Arial"/>
                <a:ea typeface="Arial"/>
                <a:cs typeface="Arial"/>
              </a:rPr>
              <a:t>Save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5817D1-38F6-4683-AC0B-ABA52F35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434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64E"/>
                </a:solidFill>
                <a:latin typeface="Arial"/>
                <a:ea typeface="Arial"/>
                <a:cs typeface="Arial"/>
              </a:rPr>
              <a:t>Keep it in a collection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B2310C-9A9F-4627-905D-995F5A0A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8630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D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7E5A66-B0A1-4CFD-B28F-BFF96E17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B564E"/>
                </a:solidFill>
                <a:latin typeface="Arial"/>
                <a:ea typeface="Arial"/>
                <a:cs typeface="Arial"/>
              </a:rPr>
              <a:t>LIHATDULU  /  IDENTITY SYSTEM V5.1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AF9879-46AF-4F2C-93EC-FCB70F48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246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B564E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706666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AC2F63-E77F-423E-A565-4947604C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5A40"/>
                </a:solidFill>
                <a:latin typeface="Arial"/>
                <a:ea typeface="Arial"/>
                <a:cs typeface="Arial"/>
              </a:rPr>
              <a:t>12 / MARKETPLACE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29A066-2328-4454-80F9-03E1D87D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222923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2292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222923"/>
                </a:solidFill>
                <a:latin typeface="Georgia"/>
                <a:ea typeface="Georgia"/>
                <a:cs typeface="Georgia"/>
              </a:rPr>
              <a:t>Catalogue rhythm: one shelf, many considered pieces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F36E05-83A1-467F-B3BF-94AF1B50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64E"/>
                </a:solidFill>
                <a:latin typeface="Arial"/>
                <a:ea typeface="Arial"/>
                <a:cs typeface="Arial"/>
              </a:rPr>
              <a:t>Denser than inspection, calm enough for comparison.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7B676D-73DE-42E3-B106-3D25C359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D1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E94C27-4877-4A0E-8F7B-55CE1021F0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29bad097e84922"/>
          <a:srcRect xmlns:a="http://schemas.openxmlformats.org/drawingml/2006/main" l="0" t="9350" r="0" b="93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2305050"/>
            <a:ext cx="2343150" cy="1905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3F5E9D-0226-471F-AEE2-E8D2B569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2923"/>
                </a:solidFill>
                <a:latin typeface="Arial"/>
                <a:ea typeface="Arial"/>
                <a:cs typeface="Arial"/>
              </a:rPr>
              <a:t>Sora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627056-2D6E-4E19-BF11-4426D3F6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64E"/>
                </a:solidFill>
                <a:latin typeface="Arial"/>
                <a:ea typeface="Arial"/>
                <a:cs typeface="Arial"/>
              </a:rPr>
              <a:t>Lemari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1739F5-3EA9-4542-B4C4-C64F2850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72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22923"/>
                </a:solidFill>
                <a:latin typeface="Arial"/>
                <a:ea typeface="Arial"/>
                <a:cs typeface="Arial"/>
              </a:rPr>
              <a:t>Rp 3.800.000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B1B79F-CB97-4BA8-BDA1-FA7F15D689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3b279eebb74e9b"/>
          <a:srcRect xmlns:a="http://schemas.openxmlformats.org/drawingml/2006/main" l="0" t="9350" r="0" b="93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09950" y="2305050"/>
            <a:ext cx="2343150" cy="1905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5F46C2-0AF3-4579-8BE7-4CFC6A7C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362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2923"/>
                </a:solidFill>
                <a:latin typeface="Arial"/>
                <a:ea typeface="Arial"/>
                <a:cs typeface="Arial"/>
              </a:rPr>
              <a:t>Arca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56226A-3284-4C6A-9700-68C47A5A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648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64E"/>
                </a:solidFill>
                <a:latin typeface="Arial"/>
                <a:ea typeface="Arial"/>
                <a:cs typeface="Arial"/>
              </a:rPr>
              <a:t>Kursi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757EC1-3C5D-421E-BEEF-CE442927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972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22923"/>
                </a:solidFill>
                <a:latin typeface="Arial"/>
                <a:ea typeface="Arial"/>
                <a:cs typeface="Arial"/>
              </a:rPr>
              <a:t>Rp 2.400.000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122F10-604A-4772-89D6-645987AAB1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f8381309b64619"/>
          <a:srcRect xmlns:a="http://schemas.openxmlformats.org/drawingml/2006/main" l="0" t="9350" r="0" b="93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305050"/>
            <a:ext cx="2343150" cy="19050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270B41-6F17-4820-8043-AC9BC787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62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2923"/>
                </a:solidFill>
                <a:latin typeface="Arial"/>
                <a:ea typeface="Arial"/>
                <a:cs typeface="Arial"/>
              </a:rPr>
              <a:t>Batu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3986DC-00B0-40FF-941D-E10FA430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48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64E"/>
                </a:solidFill>
                <a:latin typeface="Arial"/>
                <a:ea typeface="Arial"/>
                <a:cs typeface="Arial"/>
              </a:rPr>
              <a:t>Meja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5CF3A4-9B30-40D3-8362-42381450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72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22923"/>
                </a:solidFill>
                <a:latin typeface="Arial"/>
                <a:ea typeface="Arial"/>
                <a:cs typeface="Arial"/>
              </a:rPr>
              <a:t>Rp 2.400.000</a:t>
            </a:r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E086EF-9C05-4227-A8D8-B7A34A150B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34e2398fb34332"/>
          <a:srcRect xmlns:a="http://schemas.openxmlformats.org/drawingml/2006/main" l="0" t="9350" r="0" b="93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82050" y="2305050"/>
            <a:ext cx="2343150" cy="19050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557BC4-B089-4C58-B1C8-0ECBE2EF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362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2923"/>
                </a:solidFill>
                <a:latin typeface="Arial"/>
                <a:ea typeface="Arial"/>
                <a:cs typeface="Arial"/>
              </a:rPr>
              <a:t>Rimba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C98F58-81F0-4C51-B4EC-57FC1E9F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648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64E"/>
                </a:solidFill>
                <a:latin typeface="Arial"/>
                <a:ea typeface="Arial"/>
                <a:cs typeface="Arial"/>
              </a:rPr>
              <a:t>Sideboard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F20451-0559-4DEA-AF71-D3F08215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972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22923"/>
                </a:solidFill>
                <a:latin typeface="Arial"/>
                <a:ea typeface="Arial"/>
                <a:cs typeface="Arial"/>
              </a:rPr>
              <a:t>Rp 2.400.000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66D289-B826-4352-8F6C-BCD5AF9D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B564E"/>
                </a:solidFill>
                <a:latin typeface="Arial"/>
                <a:ea typeface="Arial"/>
                <a:cs typeface="Arial"/>
              </a:rPr>
              <a:t>LIHATDULU  /  IDENTITY SYSTEM V5.1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987CCF-5ADE-4AC8-8397-F14CBC76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246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B564E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1331176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E9FAB4-5B0D-46EA-A70B-619F097C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5A40"/>
                </a:solidFill>
                <a:latin typeface="Arial"/>
                <a:ea typeface="Arial"/>
                <a:cs typeface="Arial"/>
              </a:rPr>
              <a:t>13 / PRODUCT PAGE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9CEDAF-5FEE-4D2D-993C-88024C1A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222923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2292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222923"/>
                </a:solidFill>
                <a:latin typeface="Georgia"/>
                <a:ea typeface="Georgia"/>
                <a:cs typeface="Georgia"/>
              </a:rPr>
              <a:t>Product page hierarchy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DFC074-4DC6-44D2-AE56-A78A5FEB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64E"/>
                </a:solidFill>
                <a:latin typeface="Arial"/>
                <a:ea typeface="Arial"/>
                <a:cs typeface="Arial"/>
              </a:rPr>
              <a:t>The decision column holds price, fulfilment and a truthful condition summary beside the viewer.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A671F1-338A-42D5-A253-6F298028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CD55E9-A747-42E3-ACEB-18A987D5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61912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6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524079-0016-4B6A-B9BC-CFB76729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28900"/>
            <a:ext cx="5505450" cy="2419350"/>
          </a:xfrm>
          <a:prstGeom xmlns:a="http://schemas.openxmlformats.org/drawingml/2006/main" prst="roundRect">
            <a:avLst>
              <a:gd name="adj" fmla="val 5512"/>
            </a:avLst>
          </a:prstGeom>
          <a:solidFill xmlns:a="http://schemas.openxmlformats.org/drawingml/2006/main">
            <a:srgbClr val="D9C8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57F89B-3A54-4389-A1B3-4A8746A8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14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923"/>
                </a:solidFill>
                <a:latin typeface="Arial"/>
                <a:ea typeface="Arial"/>
                <a:cs typeface="Arial"/>
              </a:rPr>
              <a:t>3D viewer / photo fallback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3DC8BD-4AE7-473E-8DFA-3C7A1C63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52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5A40"/>
                </a:solidFill>
                <a:latin typeface="Arial"/>
                <a:ea typeface="Arial"/>
                <a:cs typeface="Arial"/>
              </a:rPr>
              <a:t>LEBAR 90 CM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5F192B-A232-41F2-80CE-7F456A63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575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250" b="1">
                <a:solidFill>
                  <a:srgbClr val="222923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22923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222923"/>
                </a:solidFill>
                <a:latin typeface="Georgia"/>
                <a:ea typeface="Georgia"/>
                <a:cs typeface="Georgia"/>
              </a:rPr>
              <a:t>Lemari Sora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4EB969-AC3F-4B77-AE43-0A4A79E5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29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2923"/>
                </a:solidFill>
                <a:latin typeface="Arial"/>
                <a:ea typeface="Arial"/>
                <a:cs typeface="Arial"/>
              </a:rPr>
              <a:t>Rp 3.800.000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120037-3668-40E8-9CA0-62D8A699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4335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3D07F0-E9DC-4EBF-BA9F-F7792874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6720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64E"/>
                </a:solidFill>
                <a:latin typeface="Arial"/>
                <a:ea typeface="Arial"/>
                <a:cs typeface="Arial"/>
              </a:rPr>
              <a:t>Kondisi terlihat pada goresan kecil di sisi kiri.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CD1EB7-CCFE-4F3E-B54F-4C42C021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91100"/>
            <a:ext cx="20955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3D5A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99AAFA-76F6-4C47-BC59-19BBAA42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114925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1">
                <a:solidFill>
                  <a:srgbClr val="F5F4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5F4E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4EE"/>
                </a:solidFill>
                <a:latin typeface="Arial"/>
                <a:ea typeface="Arial"/>
                <a:cs typeface="Arial"/>
              </a:rPr>
              <a:t>Tambah ke keranjang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BA9F33-02AB-4A7C-916C-7DD556FC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B564E"/>
                </a:solidFill>
                <a:latin typeface="Arial"/>
                <a:ea typeface="Arial"/>
                <a:cs typeface="Arial"/>
              </a:rPr>
              <a:t>LIHATDULU  /  IDENTITY SYSTEM V5.1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ACF7CB-03AC-4409-B184-C6B1D429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246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B564E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80418711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1BAAF7-0D7B-4F02-9F18-BAC362AD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5A40"/>
                </a:solidFill>
                <a:latin typeface="Arial"/>
                <a:ea typeface="Arial"/>
                <a:cs typeface="Arial"/>
              </a:rPr>
              <a:t>14 / SELLER WORKSPACE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2CE10F-3DC1-4478-B132-7FBE95FF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222923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2292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222923"/>
                </a:solidFill>
                <a:latin typeface="Georgia"/>
                <a:ea typeface="Georgia"/>
                <a:cs typeface="Georgia"/>
              </a:rPr>
              <a:t>Seller sees the same evidence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A286DD-5502-4E53-B22E-657D65A2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64E"/>
                </a:solidFill>
                <a:latin typeface="Arial"/>
                <a:ea typeface="Arial"/>
                <a:cs typeface="Arial"/>
              </a:rPr>
              <a:t>The workspace prepares a listing without pretending to publish a live inventory.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7C710D-638C-4C64-9FEA-BEA0A3CB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EE4482-A9D8-458C-9119-92C362F7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3048000" cy="295275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3D5A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310573-2D93-4A5C-9796-6E761631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F5F4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5F4E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4EE"/>
                </a:solidFill>
                <a:latin typeface="Arial"/>
                <a:ea typeface="Arial"/>
                <a:cs typeface="Arial"/>
              </a:rPr>
              <a:t>Toko contoh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824B25-4E41-48D2-BC4A-678BF857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908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>
                <a:solidFill>
                  <a:srgbClr val="F5F4EE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5F4EE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F5F4EE"/>
                </a:solidFill>
                <a:latin typeface="Georgia"/>
                <a:ea typeface="Georgia"/>
                <a:cs typeface="Georgia"/>
              </a:rPr>
              <a:t>Ruang Rupa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41F3B4-976F-47F4-9639-8DA62A16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671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F5F4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5F4E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4EE"/>
                </a:solidFill>
                <a:latin typeface="Arial"/>
                <a:ea typeface="Arial"/>
                <a:cs typeface="Arial"/>
              </a:rPr>
              <a:t>Jakarta Selatan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DE2588-754D-497F-A290-3D7D7688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66950"/>
            <a:ext cx="533400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6D9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2D8E12-5CC1-47EC-AD4A-8CC46606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71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2923"/>
                </a:solidFill>
                <a:latin typeface="Arial"/>
                <a:ea typeface="Arial"/>
                <a:cs typeface="Arial"/>
              </a:rPr>
              <a:t>Sora / draft listing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B363C7-6015-43E1-A4D4-2799AE0D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861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5A40"/>
                </a:solidFill>
                <a:latin typeface="Arial"/>
                <a:ea typeface="Arial"/>
                <a:cs typeface="Arial"/>
              </a:rPr>
              <a:t>Kondisi terungkap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807D9B-8DBF-4049-8F83-53D8BFB1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29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B564E"/>
                </a:solidFill>
                <a:latin typeface="Arial"/>
                <a:ea typeface="Arial"/>
                <a:cs typeface="Arial"/>
              </a:rPr>
              <a:t>3 foto siap  /  dimensi terkunci  /  harga dapat diedit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860C1B-36B0-4942-93F1-0D1E1744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52900"/>
            <a:ext cx="20955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3D5A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ACCB3E-25DA-4312-8DAE-3AC57F76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2862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1">
                <a:solidFill>
                  <a:srgbClr val="F5F4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5F4E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4EE"/>
                </a:solidFill>
                <a:latin typeface="Arial"/>
                <a:ea typeface="Arial"/>
                <a:cs typeface="Arial"/>
              </a:rPr>
              <a:t>Mulai foto barang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CFCD80-3248-489A-97D2-EB3CDECD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B564E"/>
                </a:solidFill>
                <a:latin typeface="Arial"/>
                <a:ea typeface="Arial"/>
                <a:cs typeface="Arial"/>
              </a:rPr>
              <a:t>LIHATDULU  /  IDENTITY SYSTEM V5.1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409773-AF52-4A4C-8F00-1F1E3F5D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246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B564E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0951608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4277F3-C1DA-42FF-8676-DC5EAF81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5A40"/>
                </a:solidFill>
                <a:latin typeface="Arial"/>
                <a:ea typeface="Arial"/>
                <a:cs typeface="Arial"/>
              </a:rPr>
              <a:t>15 / MOBILE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678D1A-2F0D-4A79-91AF-2887D20F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222923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2292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222923"/>
                </a:solidFill>
                <a:latin typeface="Georgia"/>
                <a:ea typeface="Georgia"/>
                <a:cs typeface="Georgia"/>
              </a:rPr>
              <a:t>Mobile navigation preserves the reason to return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368F02-2720-4CCF-960A-C0F3EF07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64E"/>
                </a:solidFill>
                <a:latin typeface="Arial"/>
                <a:ea typeface="Arial"/>
                <a:cs typeface="Arial"/>
              </a:rPr>
              <a:t>The app keeps role switching, search and cart reachable without hiding the object.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33EB71-857A-4ABA-8C9D-3DC64F8D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663887-DF25-4FF4-8740-18212051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95500"/>
            <a:ext cx="2381250" cy="4000500"/>
          </a:xfrm>
          <a:prstGeom xmlns:a="http://schemas.openxmlformats.org/drawingml/2006/main" prst="roundRect">
            <a:avLst>
              <a:gd name="adj" fmla="val 11200"/>
            </a:avLst>
          </a:prstGeom>
          <a:solidFill xmlns:a="http://schemas.openxmlformats.org/drawingml/2006/main">
            <a:srgbClr val="2229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DBA890-9845-4777-80A1-B08C5087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81250"/>
            <a:ext cx="2000250" cy="33528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5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B96D4D-112C-4FC3-8AAC-0DC21E27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479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>
                <a:solidFill>
                  <a:srgbClr val="222923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22923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222923"/>
                </a:solidFill>
                <a:latin typeface="Georgia"/>
                <a:ea typeface="Georgia"/>
                <a:cs typeface="Georgia"/>
              </a:rPr>
              <a:t>LihatDulu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988606-8327-4EBB-A5C0-F44FE101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105150"/>
            <a:ext cx="16573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D9C8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172BEB-7F9C-46CA-8E46-BC44B43C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6101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5A40"/>
                </a:solidFill>
                <a:latin typeface="Arial"/>
                <a:ea typeface="Arial"/>
                <a:cs typeface="Arial"/>
              </a:rPr>
              <a:t>Jelajahi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987FA4-6BCA-4E5B-87FE-A5A63688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62550"/>
            <a:ext cx="1657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33FC20-949A-4B39-8CED-BAD17913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1752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825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B564E"/>
                </a:solidFill>
                <a:latin typeface="Arial"/>
                <a:ea typeface="Arial"/>
                <a:cs typeface="Arial"/>
              </a:rPr>
              <a:t>Beli  ·  Jual  ·  Simpan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554E6D-2D7E-44BC-BDB6-63CC254E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384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5A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52318D-7DD5-4B01-A62A-1D96832A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81300"/>
            <a:ext cx="5124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2229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2292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22923"/>
                </a:solidFill>
                <a:latin typeface="Arial"/>
                <a:ea typeface="Arial"/>
                <a:cs typeface="Arial"/>
              </a:rPr>
              <a:t>Header keeps role switch visible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4DF1CF-1DFF-4092-9ABE-C568818F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337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5A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13688C-E797-4A9C-895F-997C1C09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76600"/>
            <a:ext cx="5124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2229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2292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22923"/>
                </a:solidFill>
                <a:latin typeface="Arial"/>
                <a:ea typeface="Arial"/>
                <a:cs typeface="Arial"/>
              </a:rPr>
              <a:t>Cards stay two-up when type remains readable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4F8D29-427E-4099-81C1-3E538C34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290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5A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EB3C25-12EC-42AC-8949-8CEB3C8B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771900"/>
            <a:ext cx="5124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2229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2292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22923"/>
                </a:solidFill>
                <a:latin typeface="Arial"/>
                <a:ea typeface="Arial"/>
                <a:cs typeface="Arial"/>
              </a:rPr>
              <a:t>Cart and saved state survive route changes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53C6DE-CA84-4235-86D1-60649B2C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B564E"/>
                </a:solidFill>
                <a:latin typeface="Arial"/>
                <a:ea typeface="Arial"/>
                <a:cs typeface="Arial"/>
              </a:rPr>
              <a:t>LIHATDULU  /  IDENTITY SYSTEM V5.1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C3BA47-3A30-4DB5-9154-6779FA32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246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B564E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85710051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69716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26FCA8-A0D9-465A-98E7-A9EA9867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5A40"/>
                </a:solidFill>
                <a:latin typeface="Arial"/>
                <a:ea typeface="Arial"/>
                <a:cs typeface="Arial"/>
              </a:rPr>
              <a:t>16 / CAPTURE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62A731-A120-4FBD-8F36-36DE20EA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222923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2292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222923"/>
                </a:solidFill>
                <a:latin typeface="Georgia"/>
                <a:ea typeface="Georgia"/>
                <a:cs typeface="Georgia"/>
              </a:rPr>
              <a:t>Capture is an intentional room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8204D5-ABCC-4992-995A-7AC4F145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64E"/>
                </a:solidFill>
                <a:latin typeface="Arial"/>
                <a:ea typeface="Arial"/>
                <a:cs typeface="Arial"/>
              </a:rPr>
              <a:t>Neutral grey removes distraction. Controls remain recognisable and reachable.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D09944-6A8C-4370-B3E5-3F34BABD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1A7B11-0F4E-4282-B7CA-A7B46A65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723900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69716E"/>
          </a:solidFill>
          <a:ln xmlns:a="http://schemas.openxmlformats.org/drawingml/2006/main" w="9525">
            <a:solidFill>
              <a:srgbClr val="F5F4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A76D06-7DC7-4FE7-9EA3-6FE60EF8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95600"/>
            <a:ext cx="28575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D9C8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5551F4-D73A-4D65-BDB6-D1F63B24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62300"/>
            <a:ext cx="140970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B979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46345B-CD29-4C6D-830D-8DB83A4C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003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3EDC7B-6DB8-4F68-BC41-33CFDB49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62450"/>
            <a:ext cx="857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4E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FF1B20-4651-4C79-A4A4-18E1AD9A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958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125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22292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22923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315875-2B9F-42A3-B458-02A35146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47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F5F4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5F4E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4EE"/>
                </a:solidFill>
                <a:latin typeface="Arial"/>
                <a:ea typeface="Arial"/>
                <a:cs typeface="Arial"/>
              </a:rPr>
              <a:t>Capture surface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213005-6E96-4D54-89AC-15180601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67050"/>
            <a:ext cx="2514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F5F4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F5F4E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4EE"/>
                </a:solidFill>
                <a:latin typeface="Arial"/>
                <a:ea typeface="Arial"/>
                <a:cs typeface="Arial"/>
              </a:rPr>
              <a:t>Large Sora, minimal controls, visible progress and a reachable exit keep the seller oriented.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4C5C3A-D15B-4AFA-8191-57857029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9105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F5F4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5F4E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5F4EE"/>
                </a:solidFill>
                <a:latin typeface="Arial"/>
                <a:ea typeface="Arial"/>
                <a:cs typeface="Arial"/>
              </a:rPr>
              <a:t>Reduced motion keeps framing changes functional.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EB2963-59FB-4ACF-9C85-C698E5C9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B564E"/>
                </a:solidFill>
                <a:latin typeface="Arial"/>
                <a:ea typeface="Arial"/>
                <a:cs typeface="Arial"/>
              </a:rPr>
              <a:t>LIHATDULU  /  IDENTITY SYSTEM V5.1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483842-0BDA-4D26-A325-8B1D9E79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246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B564E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97565660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26C346-158D-427C-936A-045AC28E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5A40"/>
                </a:solidFill>
                <a:latin typeface="Arial"/>
                <a:ea typeface="Arial"/>
                <a:cs typeface="Arial"/>
              </a:rPr>
              <a:t>17 / MOTION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D3BE03-05F8-45DB-A262-8F3AC206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222923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2292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222923"/>
                </a:solidFill>
                <a:latin typeface="Georgia"/>
                <a:ea typeface="Georgia"/>
                <a:cs typeface="Georgia"/>
              </a:rPr>
              <a:t>Motion explains change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3193FA-C8D9-462A-BC26-8338F24E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64E"/>
                </a:solidFill>
                <a:latin typeface="Arial"/>
                <a:ea typeface="Arial"/>
                <a:cs typeface="Arial"/>
              </a:rPr>
              <a:t>Rotation, articulation and selection respond to intent. Decorative movement stays out of the way.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A97DDF-DFBB-4FE4-B53B-9EF48A51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C1071F-B92C-4958-B9FA-B8F98ADB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2190750" cy="171450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3D5A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F719F6-E216-4BFE-957D-2C2C3F9C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47950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F5F4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5F4E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4EE"/>
                </a:solidFill>
                <a:latin typeface="Arial"/>
                <a:ea typeface="Arial"/>
                <a:cs typeface="Arial"/>
              </a:rPr>
              <a:t>Idle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C5000B-DA5B-491C-9FA2-E1EA9086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051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F5F4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F5F4E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4EE"/>
                </a:solidFill>
                <a:latin typeface="Arial"/>
                <a:ea typeface="Arial"/>
                <a:cs typeface="Arial"/>
              </a:rPr>
              <a:t>Poster stays useful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26B8F3-4B66-4C11-AA12-4F5A3C3F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19350"/>
            <a:ext cx="2190750" cy="171450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3D5A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FA5EDC-A61F-4747-B1AD-16D996CA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47950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F5F4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5F4E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4EE"/>
                </a:solidFill>
                <a:latin typeface="Arial"/>
                <a:ea typeface="Arial"/>
                <a:cs typeface="Arial"/>
              </a:rPr>
              <a:t>Inspect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324C1E-9F60-42B1-8964-444D9D4F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051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F5F4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F5F4E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4EE"/>
                </a:solidFill>
                <a:latin typeface="Arial"/>
                <a:ea typeface="Arial"/>
                <a:cs typeface="Arial"/>
              </a:rPr>
              <a:t>Camera eases to detail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965D80-3751-4D1C-8AF4-40D6BA92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19350"/>
            <a:ext cx="2190750" cy="171450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3D5A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0FC0CC-3C67-4A46-8A83-947D1179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47950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F5F4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5F4E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4EE"/>
                </a:solidFill>
                <a:latin typeface="Arial"/>
                <a:ea typeface="Arial"/>
                <a:cs typeface="Arial"/>
              </a:rPr>
              <a:t>Open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42041C-D2F7-4525-8F79-2CA6EC9F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051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F5F4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F5F4E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4EE"/>
                </a:solidFill>
                <a:latin typeface="Arial"/>
                <a:ea typeface="Arial"/>
                <a:cs typeface="Arial"/>
              </a:rPr>
              <a:t>Door follows one control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291465-1A91-4533-AC2B-C69FD7E7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19350"/>
            <a:ext cx="2190750" cy="171450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3D5A4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9510EB-E2B4-46C4-97FD-BFAE131D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647950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5A40"/>
                </a:solidFill>
                <a:latin typeface="Arial"/>
                <a:ea typeface="Arial"/>
                <a:cs typeface="Arial"/>
              </a:rPr>
              <a:t>Reduced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943830-D041-45FF-B5F9-C2F53B8F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051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2229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92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2923"/>
                </a:solidFill>
                <a:latin typeface="Arial"/>
                <a:ea typeface="Arial"/>
                <a:cs typeface="Arial"/>
              </a:rPr>
              <a:t>State change without travel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2E9FAB-6D40-4785-9219-D3DD70EF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64E"/>
                </a:solidFill>
                <a:latin typeface="Arial"/>
                <a:ea typeface="Arial"/>
                <a:cs typeface="Arial"/>
              </a:rPr>
              <a:t>Motion is a cue for state, never a reason to delay access to product facts.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8C3D48-D4AB-457A-88A1-BE6873C5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B564E"/>
                </a:solidFill>
                <a:latin typeface="Arial"/>
                <a:ea typeface="Arial"/>
                <a:cs typeface="Arial"/>
              </a:rPr>
              <a:t>LIHATDULU  /  IDENTITY SYSTEM V5.1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8B2638-5A2C-4DD7-98E1-74F24549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246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B564E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81944596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A544E9-2A1F-4850-A46E-17E2D1FC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5A40"/>
                </a:solidFill>
                <a:latin typeface="Arial"/>
                <a:ea typeface="Arial"/>
                <a:cs typeface="Arial"/>
              </a:rPr>
              <a:t>18 / PARTNER TREATMENT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985D14-1475-4C77-B99D-6CC59B95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222923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2292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222923"/>
                </a:solidFill>
                <a:latin typeface="Georgia"/>
                <a:ea typeface="Georgia"/>
                <a:cs typeface="Georgia"/>
              </a:rPr>
              <a:t>A partner treatment without losing the mark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E7027C-BBBE-4DC1-8A52-F5E0780C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64E"/>
                </a:solidFill>
                <a:latin typeface="Arial"/>
                <a:ea typeface="Arial"/>
                <a:cs typeface="Arial"/>
              </a:rPr>
              <a:t>A co-branded event uses a quiet lockup and keeps LihatDulu legible.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C73D1A-E6FD-4A91-87B6-2BEAA89F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CC4217-5E4A-4409-8131-A5406DB7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95250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3D5A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51354C-2D73-463A-82F8-17AC72DF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38450"/>
            <a:ext cx="819150" cy="819150"/>
          </a:xfrm>
          <a:prstGeom xmlns:a="http://schemas.openxmlformats.org/drawingml/2006/main" prst="roundRect">
            <a:avLst>
              <a:gd name="adj" fmla="val 17442"/>
            </a:avLst>
          </a:prstGeom>
          <a:solidFill xmlns:a="http://schemas.openxmlformats.org/drawingml/2006/main">
            <a:srgbClr val="F5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C245DF-4FBA-4068-AB2F-9D0A0BC6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447" y="2985897"/>
            <a:ext cx="524256" cy="524256"/>
          </a:xfrm>
          <a:prstGeom xmlns:a="http://schemas.openxmlformats.org/drawingml/2006/main" prst="roundRect">
            <a:avLst>
              <a:gd name="adj" fmla="val 12718"/>
            </a:avLst>
          </a:prstGeom>
          <a:solidFill xmlns:a="http://schemas.openxmlformats.org/drawingml/2006/main">
            <a:srgbClr val="3D5A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6D63D7-B98E-4CDA-B5BC-1FD369C4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447" y="3338132"/>
            <a:ext cx="524256" cy="114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C007E2-6CC0-45A7-A814-C3244021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480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250" b="1">
                <a:solidFill>
                  <a:srgbClr val="F5F4EE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5F4EE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F5F4EE"/>
                </a:solidFill>
                <a:latin typeface="Georgia"/>
                <a:ea typeface="Georgia"/>
                <a:cs typeface="Georgia"/>
              </a:rPr>
              <a:t>LihatDulu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AF2805-5C88-4E5F-A5E8-ACE4BB2A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5750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0">
            <a:solidFill>
              <a:srgbClr val="F5F4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755EBF-8E71-4D0B-A977-F9545219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48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1">
                <a:solidFill>
                  <a:srgbClr val="E4E873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E4E873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E4E873"/>
                </a:solidFill>
                <a:latin typeface="Georgia"/>
                <a:ea typeface="Georgia"/>
                <a:cs typeface="Georgia"/>
              </a:rPr>
              <a:t>Ruang Rupa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9DD320-7D74-42E5-BACD-9D504E2F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64E"/>
                </a:solidFill>
                <a:latin typeface="Arial"/>
                <a:ea typeface="Arial"/>
                <a:cs typeface="Arial"/>
              </a:rPr>
              <a:t>Example placement for a non-endorsing collection or pickup partner.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C7752A-FB88-4832-9E59-321E05E5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B564E"/>
                </a:solidFill>
                <a:latin typeface="Arial"/>
                <a:ea typeface="Arial"/>
                <a:cs typeface="Arial"/>
              </a:rPr>
              <a:t>LIHATDULU  /  IDENTITY SYSTEM V5.1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FD43DC-6097-4FA7-A697-8E3394E5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246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B564E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77008627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707C66-1ED8-4D25-B20A-33A9A81C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5A40"/>
                </a:solidFill>
                <a:latin typeface="Arial"/>
                <a:ea typeface="Arial"/>
                <a:cs typeface="Arial"/>
              </a:rPr>
              <a:t>19 / HANDOFF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BF3E2-7FA8-444D-8A2A-427B7F12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222923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2292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222923"/>
                </a:solidFill>
                <a:latin typeface="Georgia"/>
                <a:ea typeface="Georgia"/>
                <a:cs typeface="Georgia"/>
              </a:rPr>
              <a:t>The identity is ready to build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5BDE67-D57B-41C1-82F1-9F890419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64E"/>
                </a:solidFill>
                <a:latin typeface="Arial"/>
                <a:ea typeface="Arial"/>
                <a:cs typeface="Arial"/>
              </a:rPr>
              <a:t>One source of truth keeps the marketplace, seller tools and capture room coherent.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052D8B-CB5B-4FE4-B0E9-FED6265D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C7A890-D2D0-49B0-AC74-5DE1E542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5A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B95258-277E-4F98-9030-42621874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43150"/>
            <a:ext cx="7029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2229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2292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22923"/>
                </a:solidFill>
                <a:latin typeface="Arial"/>
                <a:ea typeface="Arial"/>
                <a:cs typeface="Arial"/>
              </a:rPr>
              <a:t>Use app/src/brand-tokens.css for role tokens and accessible state colours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7D1549-6F16-40F6-8960-13D53618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5A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605746-8389-46DF-A058-3101FB11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19400"/>
            <a:ext cx="7029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2229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2292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22923"/>
                </a:solidFill>
                <a:latin typeface="Arial"/>
                <a:ea typeface="Arial"/>
                <a:cs typeface="Arial"/>
              </a:rPr>
              <a:t>Use the original SVG files for all lockups and favicon variants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186A0B-87B9-481E-BF31-7589D434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5A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4F1F3C-1B36-4AC7-A005-84A31D0E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95650"/>
            <a:ext cx="7029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2229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2292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22923"/>
                </a:solidFill>
                <a:latin typeface="Arial"/>
                <a:ea typeface="Arial"/>
                <a:cs typeface="Arial"/>
              </a:rPr>
              <a:t>Keep product facts canonical across catalogue, viewer and checkout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3E7465-ADB9-431D-98D6-E0B879B3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5A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E44994-553A-4810-B121-6E51755E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71900"/>
            <a:ext cx="7029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2229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2292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22923"/>
                </a:solidFill>
                <a:latin typeface="Arial"/>
                <a:ea typeface="Arial"/>
                <a:cs typeface="Arial"/>
              </a:rPr>
              <a:t>Keep prepared examples honest and label local draft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7F3E89-3C13-410C-92DE-B6A80935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5A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E0BFD5-2D44-454C-A04D-48FFA6E52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48150"/>
            <a:ext cx="7029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2229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2292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22923"/>
                </a:solidFill>
                <a:latin typeface="Arial"/>
                <a:ea typeface="Arial"/>
                <a:cs typeface="Arial"/>
              </a:rPr>
              <a:t>Recheck mobile capture controls at constrained widths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C12A02-4EA4-4D6D-9411-EF14FA3E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81250"/>
            <a:ext cx="2190750" cy="2190750"/>
          </a:xfrm>
          <a:prstGeom xmlns:a="http://schemas.openxmlformats.org/drawingml/2006/main" prst="roundRect">
            <a:avLst>
              <a:gd name="adj" fmla="val 9565"/>
            </a:avLst>
          </a:prstGeom>
          <a:solidFill xmlns:a="http://schemas.openxmlformats.org/drawingml/2006/main">
            <a:srgbClr val="3D5A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14B913-EDB7-4967-81ED-2AFD63D8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71800"/>
            <a:ext cx="1657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00" b="1">
                <a:solidFill>
                  <a:srgbClr val="E4E873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E4E873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E4E873"/>
                </a:solidFill>
                <a:latin typeface="Georgia"/>
                <a:ea typeface="Georgia"/>
                <a:cs typeface="Georgia"/>
              </a:rPr>
              <a:t>LOOK</a:t>
            </a:r>
          </a:p>
          <a:p xmlns:a="http://schemas.openxmlformats.org/drawingml/2006/main">
            <a:pPr algn="ctr">
              <a:defRPr sz="2100" b="1">
                <a:solidFill>
                  <a:srgbClr val="E4E873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E4E873"/>
                </a:solidFill>
                <a:latin typeface="Georgia"/>
                <a:ea typeface="Georgia"/>
                <a:cs typeface="Georgia"/>
              </a:rPr>
              <a:t>CLOSELY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5FC5C5-91AA-409D-9AC4-47184CE1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102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3D5A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5A40"/>
                </a:solidFill>
                <a:latin typeface="Arial"/>
                <a:ea typeface="Arial"/>
                <a:cs typeface="Arial"/>
              </a:rPr>
              <a:t>Implementation index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72CE2E-BC31-40E0-9E0B-B0723986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959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B564E"/>
                </a:solidFill>
                <a:latin typeface="Arial"/>
                <a:ea typeface="Arial"/>
                <a:cs typeface="Arial"/>
              </a:rPr>
              <a:t>Tokens · mark · type · grid · controls · motion · assets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751C42-F736-4D08-B114-00BF40DE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B564E"/>
                </a:solidFill>
                <a:latin typeface="Arial"/>
                <a:ea typeface="Arial"/>
                <a:cs typeface="Arial"/>
              </a:rPr>
              <a:t>LIHATDULU  /  IDENTITY SYSTEM V5.1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A7A4EA-03F3-4A16-AA50-CF7FD8A0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246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4B564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B564E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709527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2026-10-13T10:26:38.5500000Z</dcterms:created>
  <dcterms:modified xsi:type="dcterms:W3CDTF">2026-10-13T10:26:38.5500000Z</dcterms:modified>
</coreProperties>
</file>